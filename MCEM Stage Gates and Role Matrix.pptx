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defPPr>
      <a:defRPr lang="en-US"/>
    </a:defPPr>
    <a:lvl1pPr marL="0" algn="l">
      <a:defRPr lang="en-US" sz="1800"/>
    </a:lvl1pPr>
    <a:lvl2pPr marL="457200">
      <a:defRPr lang="en-US" sz="1800"/>
    </a:lvl2pPr>
    <a:lvl3pPr marL="914400">
      <a:defRPr lang="en-US" sz="1800"/>
    </a:lvl3pPr>
    <a:lvl4pPr marL="1371600">
      <a:defRPr lang="en-US" sz="1800"/>
    </a:lvl4pPr>
    <a:lvl5pPr marL="1828800">
      <a:defRPr lang="en-US" sz="1800"/>
    </a:lvl5pPr>
    <a:lvl6pPr marL="2286000">
      <a:defRPr lang="en-US" sz="1800"/>
    </a:lvl6pPr>
    <a:lvl7pPr marL="2743200">
      <a:defRPr lang="en-US" sz="1800"/>
    </a:lvl7pPr>
    <a:lvl8pPr marL="3200400">
      <a:defRPr lang="en-US" sz="1800"/>
    </a:lvl8pPr>
    <a:lvl9pPr marL="3657600">
      <a:defRPr lang="en-US" sz="1800"/>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 uri="{E76CE94A-587E-4593-BEF5-B860AB025F02}">
      <p14:discardImageEditData xmlns="" xmlns:p14="http://schemas.microsoft.com/office/powerpoint/2010/main" xmlns:p15="http://schemas.microsoft.com/office/powerpoint/2012/main" val="0"/>
    </p:ext>
    <p:ext uri="{FD5EFAAD-0ECE-453E-9843-8895EB03D42C}">
      <p15:chartTrackingRefBased xmlns="" xmlns:p14="http://schemas.microsoft.com/office/powerpoint/2010/main"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8" d="100"/>
          <a:sy n="78" d="100"/>
        </p:scale>
        <p:origin x="850"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914400"/>
            <a:ext cx="5943600" cy="3352800"/>
          </a:xfrm>
          <a:prstGeom prst="rect">
            <a:avLst/>
          </a:prstGeom>
        </p:spPr>
      </p:sp>
      <p:sp>
        <p:nvSpPr>
          <p:cNvPr id="3" name="Notes Placeholder 2"/>
          <p:cNvSpPr>
            <a:spLocks noGrp="1"/>
          </p:cNvSpPr>
          <p:nvPr>
            <p:ph type="body" idx="1"/>
          </p:nvPr>
        </p:nvSpPr>
        <p:spPr>
          <a:xfrm>
            <a:off x="457200" y="4572000"/>
            <a:ext cx="5943600" cy="7163400"/>
          </a:xfrm>
          <a:prstGeom prst="rect">
            <a:avLst/>
          </a:prstGeom>
        </p:spPr>
        <p:txBody>
          <a:bodyPr/>
          <a:lstStyle>
            <a:lvl1pPr>
              <a:defRPr lang="en-US" sz="1200"/>
            </a:lvl1pPr>
          </a:lstStyle>
          <a:p>
            <a:endParaRPr lang="en-US" dirty="0"/>
          </a:p>
        </p:txBody>
      </p:sp>
    </p:spTree>
  </p:cSld>
  <p:clrMap bg1="lt1" tx1="dk1" bg2="lt2" tx2="dk2" accent1="accent1" accent2="accent2" accent3="accent3" accent4="accent4" accent5="accent5" accent6="accent6" hlink="hlink" folHlink="folHlink"/>
  <p:notesStyle>
    <a:defPPr>
      <a:defRPr lang="en-US"/>
    </a:defPPr>
    <a:lvl1pPr marL="0" algn="l">
      <a:defRPr lang="en-US" sz="1200"/>
    </a:lvl1pPr>
    <a:lvl2pPr marL="457200">
      <a:defRPr lang="en-US" sz="1200"/>
    </a:lvl2pPr>
    <a:lvl3pPr marL="914400">
      <a:defRPr lang="en-US" sz="1200"/>
    </a:lvl3pPr>
    <a:lvl4pPr marL="1371600">
      <a:defRPr lang="en-US" sz="1200"/>
    </a:lvl4pPr>
    <a:lvl5pPr marL="1828800">
      <a:defRPr lang="en-US" sz="1200"/>
    </a:lvl5pPr>
    <a:lvl6pPr marL="2286000">
      <a:defRPr lang="en-US" sz="1200"/>
    </a:lvl6pPr>
    <a:lvl7pPr marL="2743200">
      <a:defRPr lang="en-US" sz="1200"/>
    </a:lvl7pPr>
    <a:lvl8pPr marL="3200400">
      <a:defRPr lang="en-US" sz="1200"/>
    </a:lvl8pPr>
    <a:lvl9pPr marL="3657600">
      <a:defRPr lang="en-US" sz="1200"/>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condenses the FY27 MCEM framework into a practical stage-gate reference covering purpose, exit evidence, decision logic, and role involvement. Exact role titles vary by segment and delivery motion.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MCEM progression is outcome-based rather than activity-based. Teams may move backward when evidence changes or a dependency fails. Customer planning and outcome ownership run across all stages, while primary accountability shifts from ATU to STU and then CSU or partners.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1"/>
          <p:cNvSpPr>
            <a:spLocks noGrp="1" noRot="1" noChangeAspect="1"/>
          </p:cNvSpPr>
          <p:nvPr>
            <p:ph type="sldImg"/>
          </p:nvPr>
        </p:nvSpPr>
        <p:spPr>
          <a:xfrm>
            <a:off x="449263" y="914400"/>
            <a:ext cx="5959475" cy="3352800"/>
          </a:xfrm>
        </p:spPr>
      </p:sp>
      <p:sp>
        <p:nvSpPr>
          <p:cNvPr id="3" name="Notes Placeholder 2"/>
          <p:cNvSpPr>
            <a:spLocks noGrp="1"/>
          </p:cNvSpPr>
          <p:nvPr>
            <p:ph type="body" idx="1"/>
          </p:nvPr>
        </p:nvSpPr>
        <p:spPr/>
        <p:txBody>
          <a:bodyPr/>
          <a:lstStyle/>
          <a:p>
            <a:r>
              <a:rPr lang="en-US" dirty="0"/>
              <a:t>Stage 1 creates a qualified opportunity, not merely interest. BOAT is the hard qualification test: all four elements must be present. If only two or three are known, the opportunity isn’t qualified.</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1"/>
          <p:cNvSpPr>
            <a:spLocks noGrp="1" noRot="1" noChangeAspect="1"/>
          </p:cNvSpPr>
          <p:nvPr>
            <p:ph type="sldImg"/>
          </p:nvPr>
        </p:nvSpPr>
        <p:spPr>
          <a:xfrm>
            <a:off x="449263" y="914400"/>
            <a:ext cx="5959475" cy="3352800"/>
          </a:xfrm>
        </p:spPr>
      </p:sp>
      <p:sp>
        <p:nvSpPr>
          <p:cNvPr id="3" name="Notes Placeholder 2"/>
          <p:cNvSpPr>
            <a:spLocks noGrp="1"/>
          </p:cNvSpPr>
          <p:nvPr>
            <p:ph type="body" idx="1"/>
          </p:nvPr>
        </p:nvSpPr>
        <p:spPr/>
        <p:txBody>
          <a:bodyPr/>
          <a:lstStyle/>
          <a:p>
            <a:r>
              <a:rPr lang="en-US" dirty="0"/>
              <a:t>Stage 2 turns discovery into an agreed vision and credible solution path. CSU and partners should enter early enough to test delivery and success assumptions before commitment.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1"/>
          <p:cNvSpPr>
            <a:spLocks noGrp="1" noRot="1" noChangeAspect="1"/>
          </p:cNvSpPr>
          <p:nvPr>
            <p:ph type="sldImg"/>
          </p:nvPr>
        </p:nvSpPr>
        <p:spPr>
          <a:xfrm>
            <a:off x="449263" y="914400"/>
            <a:ext cx="5959475" cy="3352800"/>
          </a:xfrm>
        </p:spPr>
      </p:sp>
      <p:sp>
        <p:nvSpPr>
          <p:cNvPr id="3" name="Notes Placeholder 2"/>
          <p:cNvSpPr>
            <a:spLocks noGrp="1"/>
          </p:cNvSpPr>
          <p:nvPr>
            <p:ph type="body" idx="1"/>
          </p:nvPr>
        </p:nvSpPr>
        <p:spPr/>
        <p:txBody>
          <a:bodyPr/>
          <a:lstStyle/>
          <a:p>
            <a:r>
              <a:rPr lang="en-US" dirty="0"/>
              <a:t>A verbal preference isn’t enough. Customer agreement, committed pipeline, technical decision, commercial path, and delivery ownership must line up. Preserve the business outcomes through a warm handoff.</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1"/>
          <p:cNvSpPr>
            <a:spLocks noGrp="1" noRot="1" noChangeAspect="1"/>
          </p:cNvSpPr>
          <p:nvPr>
            <p:ph type="sldImg"/>
          </p:nvPr>
        </p:nvSpPr>
        <p:spPr>
          <a:xfrm>
            <a:off x="449263" y="914400"/>
            <a:ext cx="5959475" cy="3352800"/>
          </a:xfrm>
        </p:spPr>
      </p:sp>
      <p:sp>
        <p:nvSpPr>
          <p:cNvPr id="3" name="Notes Placeholder 2"/>
          <p:cNvSpPr>
            <a:spLocks noGrp="1"/>
          </p:cNvSpPr>
          <p:nvPr>
            <p:ph type="body" idx="1"/>
          </p:nvPr>
        </p:nvSpPr>
        <p:spPr/>
        <p:txBody>
          <a:bodyPr/>
          <a:lstStyle/>
          <a:p>
            <a:r>
              <a:rPr lang="en-US" dirty="0"/>
              <a:t>Technical deployment alone doesn’t close Stage 4. Evidence should include usage, adoption, health, milestones, and business value at the intended scale.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1"/>
          <p:cNvSpPr>
            <a:spLocks noGrp="1" noRot="1" noChangeAspect="1"/>
          </p:cNvSpPr>
          <p:nvPr>
            <p:ph type="sldImg"/>
          </p:nvPr>
        </p:nvSpPr>
        <p:spPr>
          <a:xfrm>
            <a:off x="449263" y="914400"/>
            <a:ext cx="5959475" cy="3352800"/>
          </a:xfrm>
        </p:spPr>
      </p:sp>
      <p:sp>
        <p:nvSpPr>
          <p:cNvPr id="3" name="Notes Placeholder 2"/>
          <p:cNvSpPr>
            <a:spLocks noGrp="1"/>
          </p:cNvSpPr>
          <p:nvPr>
            <p:ph type="body" idx="1"/>
          </p:nvPr>
        </p:nvSpPr>
        <p:spPr/>
        <p:txBody>
          <a:bodyPr/>
          <a:lstStyle/>
          <a:p>
            <a:r>
              <a:rPr lang="en-US" dirty="0"/>
              <a:t>Stage 5 sustains value and bridges to the next growth cycle. The exit isn’t an administrative close; it’s initiation of a new customer question or workload.</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1"/>
          <p:cNvSpPr>
            <a:spLocks noGrp="1" noRot="1" noChangeAspect="1"/>
          </p:cNvSpPr>
          <p:nvPr>
            <p:ph type="sldImg"/>
          </p:nvPr>
        </p:nvSpPr>
        <p:spPr>
          <a:xfrm>
            <a:off x="449263" y="914400"/>
            <a:ext cx="5959475" cy="3352800"/>
          </a:xfrm>
        </p:spPr>
      </p:sp>
      <p:sp>
        <p:nvSpPr>
          <p:cNvPr id="3" name="Notes Placeholder 2"/>
          <p:cNvSpPr>
            <a:spLocks noGrp="1"/>
          </p:cNvSpPr>
          <p:nvPr>
            <p:ph type="body" idx="1"/>
          </p:nvPr>
        </p:nvSpPr>
        <p:spPr/>
        <p:txBody>
          <a:bodyPr/>
          <a:lstStyle/>
          <a:p>
            <a:r>
              <a:rPr lang="en-US" dirty="0"/>
              <a:t>Advance only on customer-verifiable evidence. Hold when a gap is known, owned, and recoverable. Recycle when foundational assumptions change. Escalate ownership, capacity, commercial, or delivery risks rather than forcing a stage transition.</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1"/>
          <p:cNvSpPr>
            <a:spLocks noGrp="1" noRot="1" noChangeAspect="1"/>
          </p:cNvSpPr>
          <p:nvPr>
            <p:ph type="sldImg"/>
          </p:nvPr>
        </p:nvSpPr>
        <p:spPr>
          <a:xfrm>
            <a:off x="449263" y="914400"/>
            <a:ext cx="5959475" cy="3352800"/>
          </a:xfrm>
        </p:spPr>
      </p:sp>
      <p:sp>
        <p:nvSpPr>
          <p:cNvPr id="3" name="Notes Placeholder 2"/>
          <p:cNvSpPr>
            <a:spLocks noGrp="1"/>
          </p:cNvSpPr>
          <p:nvPr>
            <p:ph type="body" idx="1"/>
          </p:nvPr>
        </p:nvSpPr>
        <p:spPr/>
        <p:txBody>
          <a:bodyPr/>
          <a:lstStyle/>
          <a:p>
            <a:r>
              <a:rPr lang="en-US" dirty="0"/>
              <a:t>Accountable organizations don’t work alone. ATU retains outcome ownership across the lifecycle, STU owns value and technical solutioning through commitment, and CSU or partners own realization and optimization.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current stage, official exit criterion, evidence present, gap, and owner. If evidence doesn’t support advancement, choose hold or recycle explicitly. This protects forecast quality, customer trust, and clean sales-to-delivery transitions.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F7F9FC"/>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F7F9FC"/>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rgbClr val="F7F9FC"/>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defRPr lang="en-US">
          <a:solidFill>
            <a:srgbClr val="172B4D"/>
          </a:solidFill>
          <a:latin typeface="Trebuchet MS"/>
        </a:defRPr>
      </a:lvl1pPr>
    </p:titleStyle>
    <p:bodyStyle>
      <a:lvl1pPr>
        <a:defRPr lang="en-US">
          <a:solidFill>
            <a:srgbClr val="172B4D"/>
          </a:solidFill>
          <a:latin typeface="Calibri"/>
        </a:defRPr>
      </a:lvl1pPr>
    </p:bodyStyle>
    <p:otherStyle>
      <a:lvl1pPr>
        <a:defRPr lang="en-US">
          <a:solidFill>
            <a:srgbClr val="172B4D"/>
          </a:solidFill>
          <a:latin typeface="Calibri"/>
        </a:defRPr>
      </a:lvl1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99" name="Accent Bar"/>
          <p:cNvSpPr>
            <a:spLocks noGrp="1"/>
          </p:cNvSpPr>
          <p:nvPr/>
        </p:nvSpPr>
        <p:spPr>
          <a:xfrm>
            <a:off x="0" y="0"/>
            <a:ext cx="12192000" cy="73152"/>
          </a:xfrm>
          <a:prstGeom prst="rect">
            <a:avLst/>
          </a:prstGeom>
          <a:solidFill>
            <a:srgbClr val="2A446F"/>
          </a:solidFill>
        </p:spPr>
        <p:txBody>
          <a:bodyPr/>
          <a:lstStyle/>
          <a:p>
            <a:endParaRPr/>
          </a:p>
        </p:txBody>
      </p:sp>
      <p:sp>
        <p:nvSpPr>
          <p:cNvPr id="5" name="Eyebrow"/>
          <p:cNvSpPr>
            <a:spLocks noGrp="1"/>
          </p:cNvSpPr>
          <p:nvPr/>
        </p:nvSpPr>
        <p:spPr>
          <a:xfrm>
            <a:off x="457200" y="1145286"/>
            <a:ext cx="11277600" cy="457200"/>
          </a:xfrm>
          <a:prstGeom prst="rect">
            <a:avLst/>
          </a:prstGeom>
          <a:noFill/>
        </p:spPr>
        <p:txBody>
          <a:bodyPr vert="horz" wrap="square" rtlCol="0" anchor="ctr">
            <a:normAutofit/>
          </a:bodyPr>
          <a:lstStyle/>
          <a:p>
            <a:pPr algn="ctr"/>
            <a:r>
              <a:rPr lang="en-US" sz="1800" b="1" cap="all" dirty="0">
                <a:solidFill>
                  <a:srgbClr val="2A446F"/>
                </a:solidFill>
                <a:latin typeface="Trebuchet MS"/>
              </a:rPr>
              <a:t>FY27 MCEM · EXECUTION REFERENCE</a:t>
            </a:r>
          </a:p>
        </p:txBody>
      </p:sp>
      <p:sp>
        <p:nvSpPr>
          <p:cNvPr id="2" name="Title 1"/>
          <p:cNvSpPr>
            <a:spLocks noGrp="1"/>
          </p:cNvSpPr>
          <p:nvPr>
            <p:ph type="ctrTitle"/>
          </p:nvPr>
        </p:nvSpPr>
        <p:spPr>
          <a:xfrm>
            <a:off x="457200" y="1831086"/>
            <a:ext cx="11277600" cy="1371600"/>
          </a:xfrm>
          <a:prstGeom prst="rect">
            <a:avLst/>
          </a:prstGeom>
          <a:noFill/>
        </p:spPr>
        <p:txBody>
          <a:bodyPr vert="horz" wrap="square" rtlCol="0" anchor="ctr">
            <a:normAutofit/>
          </a:bodyPr>
          <a:lstStyle/>
          <a:p>
            <a:pPr algn="ctr"/>
            <a:r>
              <a:rPr lang="en-US" sz="3600" b="1" dirty="0">
                <a:solidFill>
                  <a:srgbClr val="2A446F"/>
                </a:solidFill>
                <a:latin typeface="Trebuchet MS"/>
              </a:rPr>
              <a:t>MCEM Stage Gates and Role Matrix</a:t>
            </a:r>
          </a:p>
        </p:txBody>
      </p:sp>
      <p:sp>
        <p:nvSpPr>
          <p:cNvPr id="3" name="Subtitle 2"/>
          <p:cNvSpPr>
            <a:spLocks noGrp="1"/>
          </p:cNvSpPr>
          <p:nvPr>
            <p:ph type="subTitle"/>
          </p:nvPr>
        </p:nvSpPr>
        <p:spPr>
          <a:xfrm>
            <a:off x="457200" y="3431286"/>
            <a:ext cx="11277600" cy="685800"/>
          </a:xfrm>
          <a:prstGeom prst="rect">
            <a:avLst/>
          </a:prstGeom>
          <a:noFill/>
        </p:spPr>
        <p:txBody>
          <a:bodyPr vert="horz" wrap="square" rtlCol="0" anchor="ctr">
            <a:normAutofit/>
          </a:bodyPr>
          <a:lstStyle/>
          <a:p>
            <a:pPr algn="ctr"/>
            <a:r>
              <a:rPr lang="en-US" sz="2000" dirty="0">
                <a:solidFill>
                  <a:srgbClr val="172B4D"/>
                </a:solidFill>
                <a:latin typeface="Calibri"/>
              </a:rPr>
              <a:t>A stage exits only when customer evidence, ownership, and the next-stage handoff are clear.</a:t>
            </a:r>
          </a:p>
        </p:txBody>
      </p:sp>
      <p:sp>
        <p:nvSpPr>
          <p:cNvPr id="6" name="Dateline"/>
          <p:cNvSpPr>
            <a:spLocks noGrp="1"/>
          </p:cNvSpPr>
          <p:nvPr/>
        </p:nvSpPr>
        <p:spPr>
          <a:xfrm>
            <a:off x="457200" y="6035040"/>
            <a:ext cx="11277600" cy="365760"/>
          </a:xfrm>
          <a:prstGeom prst="rect">
            <a:avLst/>
          </a:prstGeom>
          <a:noFill/>
        </p:spPr>
        <p:txBody>
          <a:bodyPr vert="horz" wrap="square" rtlCol="0" anchor="ctr">
            <a:normAutofit/>
          </a:bodyPr>
          <a:lstStyle/>
          <a:p>
            <a:pPr algn="ctr"/>
            <a:r>
              <a:rPr lang="en-US" sz="1400" dirty="0">
                <a:solidFill>
                  <a:srgbClr val="52616B"/>
                </a:solidFill>
                <a:latin typeface="Calibri"/>
              </a:rPr>
              <a:t>Execution Excellence | MCEM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98" name="Accent Bar"/>
          <p:cNvSpPr>
            <a:spLocks noGrp="1"/>
          </p:cNvSpPr>
          <p:nvPr/>
        </p:nvSpPr>
        <p:spPr>
          <a:xfrm>
            <a:off x="0" y="0"/>
            <a:ext cx="12192000" cy="73152"/>
          </a:xfrm>
          <a:prstGeom prst="rect">
            <a:avLst/>
          </a:prstGeom>
          <a:solidFill>
            <a:srgbClr val="2A446F"/>
          </a:solidFill>
        </p:spPr>
        <p:txBody>
          <a:bodyPr/>
          <a:lstStyle/>
          <a:p>
            <a:endParaRPr/>
          </a:p>
        </p:txBody>
      </p:sp>
      <p:sp>
        <p:nvSpPr>
          <p:cNvPr id="2" name="Title Bar"/>
          <p:cNvSpPr>
            <a:spLocks noGrp="1"/>
          </p:cNvSpPr>
          <p:nvPr/>
        </p:nvSpPr>
        <p:spPr>
          <a:xfrm>
            <a:off x="0" y="0"/>
            <a:ext cx="12192000" cy="914400"/>
          </a:xfrm>
          <a:prstGeom prst="rect">
            <a:avLst/>
          </a:prstGeom>
          <a:solidFill>
            <a:srgbClr val="102A43"/>
          </a:solidFill>
        </p:spPr>
        <p:txBody>
          <a:bodyPr vert="horz" wrap="square" rtlCol="0" anchor="ctr">
            <a:normAutofit/>
          </a:bodyPr>
          <a:lstStyle/>
          <a:p>
            <a:r>
              <a:rPr lang="en-US" sz="2800" b="1" dirty="0">
                <a:solidFill>
                  <a:srgbClr val="FFFFFF"/>
                </a:solidFill>
                <a:latin typeface="Trebuchet MS"/>
              </a:rPr>
              <a:t>The five-stage MCEM lifecycle</a:t>
            </a:r>
          </a:p>
        </p:txBody>
      </p:sp>
      <p:sp>
        <p:nvSpPr>
          <p:cNvPr id="10" name="Diagram Box Bg 10"/>
          <p:cNvSpPr>
            <a:spLocks noGrp="1"/>
          </p:cNvSpPr>
          <p:nvPr/>
        </p:nvSpPr>
        <p:spPr>
          <a:xfrm>
            <a:off x="457200" y="3131820"/>
            <a:ext cx="1889760" cy="1280160"/>
          </a:xfrm>
          <a:prstGeom prst="roundRect">
            <a:avLst>
              <a:gd name="adj" fmla="val 12500"/>
            </a:avLst>
          </a:prstGeom>
          <a:solidFill>
            <a:srgbClr val="2A446F">
              <a:alpha val="15000"/>
            </a:srgbClr>
          </a:solidFill>
          <a:ln w="19050">
            <a:solidFill>
              <a:srgbClr val="2A446F"/>
            </a:solidFill>
          </a:ln>
        </p:spPr>
        <p:txBody>
          <a:bodyPr/>
          <a:lstStyle/>
          <a:p>
            <a:endParaRPr/>
          </a:p>
        </p:txBody>
      </p:sp>
      <p:sp>
        <p:nvSpPr>
          <p:cNvPr id="11" name="Diagram Label 10"/>
          <p:cNvSpPr txBox="1"/>
          <p:nvPr/>
        </p:nvSpPr>
        <p:spPr>
          <a:xfrm>
            <a:off x="548640" y="3223260"/>
            <a:ext cx="1706880" cy="548640"/>
          </a:xfrm>
          <a:prstGeom prst="rect">
            <a:avLst/>
          </a:prstGeom>
          <a:noFill/>
        </p:spPr>
        <p:txBody>
          <a:bodyPr wrap="square" rtlCol="0" anchor="b">
            <a:normAutofit/>
          </a:bodyPr>
          <a:lstStyle/>
          <a:p>
            <a:pPr algn="ctr">
              <a:buNone/>
            </a:pPr>
            <a:r>
              <a:rPr lang="en-US" sz="1500" b="1" dirty="0">
                <a:solidFill>
                  <a:srgbClr val="2A446F"/>
                </a:solidFill>
                <a:latin typeface="Trebuchet MS"/>
              </a:rPr>
              <a:t>1 · LISTEN &amp; CONSULT</a:t>
            </a:r>
          </a:p>
        </p:txBody>
      </p:sp>
      <p:sp>
        <p:nvSpPr>
          <p:cNvPr id="12" name="Diagram Detail 10"/>
          <p:cNvSpPr txBox="1"/>
          <p:nvPr/>
        </p:nvSpPr>
        <p:spPr>
          <a:xfrm>
            <a:off x="548640" y="3771900"/>
            <a:ext cx="1706880" cy="548640"/>
          </a:xfrm>
          <a:prstGeom prst="rect">
            <a:avLst/>
          </a:prstGeom>
          <a:noFill/>
        </p:spPr>
        <p:txBody>
          <a:bodyPr wrap="square" rtlCol="0" anchor="t">
            <a:normAutofit/>
          </a:bodyPr>
          <a:lstStyle/>
          <a:p>
            <a:pPr algn="ctr">
              <a:buNone/>
            </a:pPr>
            <a:r>
              <a:rPr lang="en-US" sz="1200" dirty="0">
                <a:solidFill>
                  <a:srgbClr val="172B4D"/>
                </a:solidFill>
                <a:latin typeface="Calibri"/>
              </a:rPr>
              <a:t>Discover, qualify, align outcomes</a:t>
            </a:r>
          </a:p>
        </p:txBody>
      </p:sp>
      <p:cxnSp>
        <p:nvCxnSpPr>
          <p:cNvPr id="13" name="Connector H 13"/>
          <p:cNvCxnSpPr/>
          <p:nvPr/>
        </p:nvCxnSpPr>
        <p:spPr>
          <a:xfrm>
            <a:off x="2346960" y="3771900"/>
            <a:ext cx="457200" cy="0"/>
          </a:xfrm>
          <a:prstGeom prst="straightConnector1">
            <a:avLst/>
          </a:prstGeom>
          <a:ln w="38100">
            <a:solidFill>
              <a:srgbClr val="0078D4"/>
            </a:solidFill>
            <a:tailEnd type="arrow" w="med" len="med"/>
          </a:ln>
        </p:spPr>
      </p:cxnSp>
      <p:sp>
        <p:nvSpPr>
          <p:cNvPr id="14" name="Diagram Box Bg 14"/>
          <p:cNvSpPr>
            <a:spLocks noGrp="1"/>
          </p:cNvSpPr>
          <p:nvPr/>
        </p:nvSpPr>
        <p:spPr>
          <a:xfrm>
            <a:off x="2804160" y="3131820"/>
            <a:ext cx="1889760" cy="1280160"/>
          </a:xfrm>
          <a:prstGeom prst="roundRect">
            <a:avLst>
              <a:gd name="adj" fmla="val 12500"/>
            </a:avLst>
          </a:prstGeom>
          <a:solidFill>
            <a:srgbClr val="0078D4">
              <a:alpha val="15000"/>
            </a:srgbClr>
          </a:solidFill>
          <a:ln w="19050">
            <a:solidFill>
              <a:srgbClr val="0078D4"/>
            </a:solidFill>
          </a:ln>
        </p:spPr>
        <p:txBody>
          <a:bodyPr/>
          <a:lstStyle/>
          <a:p>
            <a:endParaRPr/>
          </a:p>
        </p:txBody>
      </p:sp>
      <p:sp>
        <p:nvSpPr>
          <p:cNvPr id="15" name="Diagram Label 14"/>
          <p:cNvSpPr txBox="1"/>
          <p:nvPr/>
        </p:nvSpPr>
        <p:spPr>
          <a:xfrm>
            <a:off x="2895600" y="3223260"/>
            <a:ext cx="1706880" cy="548640"/>
          </a:xfrm>
          <a:prstGeom prst="rect">
            <a:avLst/>
          </a:prstGeom>
          <a:noFill/>
        </p:spPr>
        <p:txBody>
          <a:bodyPr wrap="square" rtlCol="0" anchor="b">
            <a:normAutofit/>
          </a:bodyPr>
          <a:lstStyle/>
          <a:p>
            <a:pPr algn="ctr">
              <a:buNone/>
            </a:pPr>
            <a:r>
              <a:rPr lang="en-US" sz="1500" b="1" dirty="0">
                <a:solidFill>
                  <a:srgbClr val="0078D4"/>
                </a:solidFill>
                <a:latin typeface="Trebuchet MS"/>
              </a:rPr>
              <a:t>2 · INSPIRE &amp; DESIGN</a:t>
            </a:r>
          </a:p>
        </p:txBody>
      </p:sp>
      <p:sp>
        <p:nvSpPr>
          <p:cNvPr id="16" name="Diagram Detail 14"/>
          <p:cNvSpPr txBox="1"/>
          <p:nvPr/>
        </p:nvSpPr>
        <p:spPr>
          <a:xfrm>
            <a:off x="2895600" y="3771900"/>
            <a:ext cx="1706880" cy="548640"/>
          </a:xfrm>
          <a:prstGeom prst="rect">
            <a:avLst/>
          </a:prstGeom>
          <a:noFill/>
        </p:spPr>
        <p:txBody>
          <a:bodyPr wrap="square" rtlCol="0" anchor="t">
            <a:normAutofit/>
          </a:bodyPr>
          <a:lstStyle/>
          <a:p>
            <a:pPr algn="ctr">
              <a:buNone/>
            </a:pPr>
            <a:r>
              <a:rPr lang="en-US" sz="1200" dirty="0">
                <a:solidFill>
                  <a:srgbClr val="172B4D"/>
                </a:solidFill>
                <a:latin typeface="Calibri"/>
              </a:rPr>
              <a:t>Prove value and shape solution</a:t>
            </a:r>
          </a:p>
        </p:txBody>
      </p:sp>
      <p:cxnSp>
        <p:nvCxnSpPr>
          <p:cNvPr id="17" name="Connector H 17"/>
          <p:cNvCxnSpPr/>
          <p:nvPr/>
        </p:nvCxnSpPr>
        <p:spPr>
          <a:xfrm>
            <a:off x="4693920" y="3771900"/>
            <a:ext cx="457200" cy="0"/>
          </a:xfrm>
          <a:prstGeom prst="straightConnector1">
            <a:avLst/>
          </a:prstGeom>
          <a:ln w="38100">
            <a:solidFill>
              <a:srgbClr val="3B82F6"/>
            </a:solidFill>
            <a:tailEnd type="arrow" w="med" len="med"/>
          </a:ln>
        </p:spPr>
      </p:cxnSp>
      <p:sp>
        <p:nvSpPr>
          <p:cNvPr id="18" name="Diagram Box Bg 18"/>
          <p:cNvSpPr>
            <a:spLocks noGrp="1"/>
          </p:cNvSpPr>
          <p:nvPr/>
        </p:nvSpPr>
        <p:spPr>
          <a:xfrm>
            <a:off x="5151120" y="3131820"/>
            <a:ext cx="1889760" cy="1280160"/>
          </a:xfrm>
          <a:prstGeom prst="roundRect">
            <a:avLst>
              <a:gd name="adj" fmla="val 12500"/>
            </a:avLst>
          </a:prstGeom>
          <a:solidFill>
            <a:srgbClr val="3B82F6">
              <a:alpha val="15000"/>
            </a:srgbClr>
          </a:solidFill>
          <a:ln w="19050">
            <a:solidFill>
              <a:srgbClr val="3B82F6"/>
            </a:solidFill>
          </a:ln>
        </p:spPr>
        <p:txBody>
          <a:bodyPr/>
          <a:lstStyle/>
          <a:p>
            <a:endParaRPr/>
          </a:p>
        </p:txBody>
      </p:sp>
      <p:sp>
        <p:nvSpPr>
          <p:cNvPr id="19" name="Diagram Label 18"/>
          <p:cNvSpPr txBox="1"/>
          <p:nvPr/>
        </p:nvSpPr>
        <p:spPr>
          <a:xfrm>
            <a:off x="5242560" y="3223260"/>
            <a:ext cx="1706880" cy="548640"/>
          </a:xfrm>
          <a:prstGeom prst="rect">
            <a:avLst/>
          </a:prstGeom>
          <a:noFill/>
        </p:spPr>
        <p:txBody>
          <a:bodyPr wrap="square" rtlCol="0" anchor="b">
            <a:normAutofit/>
          </a:bodyPr>
          <a:lstStyle/>
          <a:p>
            <a:pPr algn="ctr">
              <a:buNone/>
            </a:pPr>
            <a:r>
              <a:rPr lang="en-US" sz="1500" b="1" dirty="0">
                <a:solidFill>
                  <a:srgbClr val="3B82F6"/>
                </a:solidFill>
                <a:latin typeface="Trebuchet MS"/>
              </a:rPr>
              <a:t>3 · EMPOWER &amp; ACHIEVE</a:t>
            </a:r>
          </a:p>
        </p:txBody>
      </p:sp>
      <p:sp>
        <p:nvSpPr>
          <p:cNvPr id="20" name="Diagram Detail 18"/>
          <p:cNvSpPr txBox="1"/>
          <p:nvPr/>
        </p:nvSpPr>
        <p:spPr>
          <a:xfrm>
            <a:off x="5242560" y="3771900"/>
            <a:ext cx="1706880" cy="548640"/>
          </a:xfrm>
          <a:prstGeom prst="rect">
            <a:avLst/>
          </a:prstGeom>
          <a:noFill/>
        </p:spPr>
        <p:txBody>
          <a:bodyPr wrap="square" rtlCol="0" anchor="t">
            <a:normAutofit/>
          </a:bodyPr>
          <a:lstStyle/>
          <a:p>
            <a:pPr algn="ctr">
              <a:buNone/>
            </a:pPr>
            <a:r>
              <a:rPr lang="en-US" sz="1200" dirty="0">
                <a:solidFill>
                  <a:srgbClr val="172B4D"/>
                </a:solidFill>
                <a:latin typeface="Calibri"/>
              </a:rPr>
              <a:t>Secure decisions and commitment</a:t>
            </a:r>
          </a:p>
        </p:txBody>
      </p:sp>
      <p:cxnSp>
        <p:nvCxnSpPr>
          <p:cNvPr id="21" name="Connector H 21"/>
          <p:cNvCxnSpPr/>
          <p:nvPr/>
        </p:nvCxnSpPr>
        <p:spPr>
          <a:xfrm>
            <a:off x="7040880" y="3771900"/>
            <a:ext cx="457200" cy="0"/>
          </a:xfrm>
          <a:prstGeom prst="straightConnector1">
            <a:avLst/>
          </a:prstGeom>
          <a:ln w="38100">
            <a:solidFill>
              <a:srgbClr val="49C5B1"/>
            </a:solidFill>
            <a:tailEnd type="arrow" w="med" len="med"/>
          </a:ln>
        </p:spPr>
      </p:cxnSp>
      <p:sp>
        <p:nvSpPr>
          <p:cNvPr id="22" name="Diagram Box Bg 22"/>
          <p:cNvSpPr>
            <a:spLocks noGrp="1"/>
          </p:cNvSpPr>
          <p:nvPr/>
        </p:nvSpPr>
        <p:spPr>
          <a:xfrm>
            <a:off x="7498080" y="3131820"/>
            <a:ext cx="1889760" cy="1280160"/>
          </a:xfrm>
          <a:prstGeom prst="roundRect">
            <a:avLst>
              <a:gd name="adj" fmla="val 12500"/>
            </a:avLst>
          </a:prstGeom>
          <a:solidFill>
            <a:srgbClr val="49C5B1">
              <a:alpha val="15000"/>
            </a:srgbClr>
          </a:solidFill>
          <a:ln w="19050">
            <a:solidFill>
              <a:srgbClr val="49C5B1"/>
            </a:solidFill>
          </a:ln>
        </p:spPr>
        <p:txBody>
          <a:bodyPr/>
          <a:lstStyle/>
          <a:p>
            <a:endParaRPr/>
          </a:p>
        </p:txBody>
      </p:sp>
      <p:sp>
        <p:nvSpPr>
          <p:cNvPr id="23" name="Diagram Label 22"/>
          <p:cNvSpPr txBox="1"/>
          <p:nvPr/>
        </p:nvSpPr>
        <p:spPr>
          <a:xfrm>
            <a:off x="7589520" y="3223260"/>
            <a:ext cx="1706880" cy="548640"/>
          </a:xfrm>
          <a:prstGeom prst="rect">
            <a:avLst/>
          </a:prstGeom>
          <a:noFill/>
        </p:spPr>
        <p:txBody>
          <a:bodyPr wrap="square" rtlCol="0" anchor="b">
            <a:normAutofit/>
          </a:bodyPr>
          <a:lstStyle/>
          <a:p>
            <a:pPr algn="ctr">
              <a:buNone/>
            </a:pPr>
            <a:r>
              <a:rPr lang="en-US" sz="1500" b="1" dirty="0">
                <a:solidFill>
                  <a:srgbClr val="49C5B1"/>
                </a:solidFill>
                <a:latin typeface="Trebuchet MS"/>
              </a:rPr>
              <a:t>4 · REALIZE VALUE</a:t>
            </a:r>
          </a:p>
        </p:txBody>
      </p:sp>
      <p:sp>
        <p:nvSpPr>
          <p:cNvPr id="24" name="Diagram Detail 22"/>
          <p:cNvSpPr txBox="1"/>
          <p:nvPr/>
        </p:nvSpPr>
        <p:spPr>
          <a:xfrm>
            <a:off x="7589520" y="3771900"/>
            <a:ext cx="1706880" cy="548640"/>
          </a:xfrm>
          <a:prstGeom prst="rect">
            <a:avLst/>
          </a:prstGeom>
          <a:noFill/>
        </p:spPr>
        <p:txBody>
          <a:bodyPr wrap="square" rtlCol="0" anchor="t">
            <a:normAutofit/>
          </a:bodyPr>
          <a:lstStyle/>
          <a:p>
            <a:pPr algn="ctr">
              <a:buNone/>
            </a:pPr>
            <a:r>
              <a:rPr lang="en-US" sz="1200" dirty="0">
                <a:solidFill>
                  <a:srgbClr val="172B4D"/>
                </a:solidFill>
                <a:latin typeface="Calibri"/>
              </a:rPr>
              <a:t>Deliver, adopt, and scale</a:t>
            </a:r>
          </a:p>
        </p:txBody>
      </p:sp>
      <p:cxnSp>
        <p:nvCxnSpPr>
          <p:cNvPr id="25" name="Connector H 25"/>
          <p:cNvCxnSpPr/>
          <p:nvPr/>
        </p:nvCxnSpPr>
        <p:spPr>
          <a:xfrm>
            <a:off x="9387840" y="3771900"/>
            <a:ext cx="457200" cy="0"/>
          </a:xfrm>
          <a:prstGeom prst="straightConnector1">
            <a:avLst/>
          </a:prstGeom>
          <a:ln w="38100">
            <a:solidFill>
              <a:srgbClr val="248277"/>
            </a:solidFill>
            <a:tailEnd type="arrow" w="med" len="med"/>
          </a:ln>
        </p:spPr>
      </p:cxnSp>
      <p:sp>
        <p:nvSpPr>
          <p:cNvPr id="26" name="Diagram Box Bg 26"/>
          <p:cNvSpPr>
            <a:spLocks noGrp="1"/>
          </p:cNvSpPr>
          <p:nvPr/>
        </p:nvSpPr>
        <p:spPr>
          <a:xfrm>
            <a:off x="9845040" y="3131820"/>
            <a:ext cx="1889760" cy="1280160"/>
          </a:xfrm>
          <a:prstGeom prst="roundRect">
            <a:avLst>
              <a:gd name="adj" fmla="val 12500"/>
            </a:avLst>
          </a:prstGeom>
          <a:solidFill>
            <a:srgbClr val="248277">
              <a:alpha val="15000"/>
            </a:srgbClr>
          </a:solidFill>
          <a:ln w="19050">
            <a:solidFill>
              <a:srgbClr val="248277"/>
            </a:solidFill>
          </a:ln>
        </p:spPr>
        <p:txBody>
          <a:bodyPr/>
          <a:lstStyle/>
          <a:p>
            <a:endParaRPr/>
          </a:p>
        </p:txBody>
      </p:sp>
      <p:sp>
        <p:nvSpPr>
          <p:cNvPr id="27" name="Diagram Label 26"/>
          <p:cNvSpPr txBox="1"/>
          <p:nvPr/>
        </p:nvSpPr>
        <p:spPr>
          <a:xfrm>
            <a:off x="9936480" y="3223260"/>
            <a:ext cx="1706880" cy="548640"/>
          </a:xfrm>
          <a:prstGeom prst="rect">
            <a:avLst/>
          </a:prstGeom>
          <a:noFill/>
        </p:spPr>
        <p:txBody>
          <a:bodyPr wrap="square" rtlCol="0" anchor="b">
            <a:normAutofit/>
          </a:bodyPr>
          <a:lstStyle/>
          <a:p>
            <a:pPr algn="ctr">
              <a:buNone/>
            </a:pPr>
            <a:r>
              <a:rPr lang="en-US" sz="1500" b="1" dirty="0">
                <a:solidFill>
                  <a:srgbClr val="248277"/>
                </a:solidFill>
                <a:latin typeface="Trebuchet MS"/>
              </a:rPr>
              <a:t>5 · MANAGE &amp; OPTIMIZE</a:t>
            </a:r>
          </a:p>
        </p:txBody>
      </p:sp>
      <p:sp>
        <p:nvSpPr>
          <p:cNvPr id="28" name="Diagram Detail 26"/>
          <p:cNvSpPr txBox="1"/>
          <p:nvPr/>
        </p:nvSpPr>
        <p:spPr>
          <a:xfrm>
            <a:off x="9936480" y="3771900"/>
            <a:ext cx="1706880" cy="548640"/>
          </a:xfrm>
          <a:prstGeom prst="rect">
            <a:avLst/>
          </a:prstGeom>
          <a:noFill/>
        </p:spPr>
        <p:txBody>
          <a:bodyPr wrap="square" rtlCol="0" anchor="t">
            <a:normAutofit/>
          </a:bodyPr>
          <a:lstStyle/>
          <a:p>
            <a:pPr algn="ctr">
              <a:buNone/>
            </a:pPr>
            <a:r>
              <a:rPr lang="en-US" sz="1200" dirty="0">
                <a:solidFill>
                  <a:srgbClr val="172B4D"/>
                </a:solidFill>
                <a:latin typeface="Calibri"/>
              </a:rPr>
              <a:t>Sustain, optimize, and expand</a:t>
            </a:r>
          </a:p>
        </p:txBody>
      </p:sp>
      <p:sp>
        <p:nvSpPr>
          <p:cNvPr id="100" name="Running Footer"/>
          <p:cNvSpPr>
            <a:spLocks noGrp="1"/>
          </p:cNvSpPr>
          <p:nvPr/>
        </p:nvSpPr>
        <p:spPr>
          <a:xfrm>
            <a:off x="457200" y="6492240"/>
            <a:ext cx="10180320" cy="274320"/>
          </a:xfrm>
          <a:prstGeom prst="rect">
            <a:avLst/>
          </a:prstGeom>
          <a:noFill/>
        </p:spPr>
        <p:txBody>
          <a:bodyPr vert="horz" wrap="square" rtlCol="0" anchor="ctr">
            <a:normAutofit/>
          </a:bodyPr>
          <a:lstStyle/>
          <a:p>
            <a:pPr algn="l"/>
            <a:r>
              <a:rPr lang="en-US" sz="1000" dirty="0">
                <a:solidFill>
                  <a:srgbClr val="52616B"/>
                </a:solidFill>
                <a:latin typeface="Calibri"/>
              </a:rPr>
              <a:t>FY27 MCEM · Stage Gates &amp; Roles</a:t>
            </a:r>
          </a:p>
        </p:txBody>
      </p:sp>
      <p:sp>
        <p:nvSpPr>
          <p:cNvPr id="101" name="Running Footer Page Number"/>
          <p:cNvSpPr>
            <a:spLocks noGrp="1"/>
          </p:cNvSpPr>
          <p:nvPr/>
        </p:nvSpPr>
        <p:spPr>
          <a:xfrm>
            <a:off x="10637520" y="6492240"/>
            <a:ext cx="1097280" cy="274320"/>
          </a:xfrm>
          <a:prstGeom prst="rect">
            <a:avLst/>
          </a:prstGeom>
          <a:noFill/>
        </p:spPr>
        <p:txBody>
          <a:bodyPr vert="horz" wrap="square" rtlCol="0" anchor="ctr">
            <a:normAutofit/>
          </a:bodyPr>
          <a:lstStyle/>
          <a:p>
            <a:pPr algn="r"/>
            <a:r>
              <a:rPr lang="en-US" sz="1000" dirty="0">
                <a:solidFill>
                  <a:srgbClr val="52616B"/>
                </a:solidFill>
                <a:latin typeface="Calibri"/>
              </a:rPr>
              <a:t>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99" name="Accent Bar"/>
          <p:cNvSpPr>
            <a:spLocks noGrp="1"/>
          </p:cNvSpPr>
          <p:nvPr/>
        </p:nvSpPr>
        <p:spPr>
          <a:xfrm>
            <a:off x="0" y="0"/>
            <a:ext cx="12192000" cy="73152"/>
          </a:xfrm>
          <a:prstGeom prst="rect">
            <a:avLst/>
          </a:prstGeom>
          <a:solidFill>
            <a:srgbClr val="2A446F"/>
          </a:solidFill>
        </p:spPr>
        <p:txBody>
          <a:bodyPr/>
          <a:lstStyle/>
          <a:p>
            <a:endParaRPr/>
          </a:p>
        </p:txBody>
      </p:sp>
      <p:sp>
        <p:nvSpPr>
          <p:cNvPr id="2" name="Title Bar"/>
          <p:cNvSpPr>
            <a:spLocks noGrp="1"/>
          </p:cNvSpPr>
          <p:nvPr/>
        </p:nvSpPr>
        <p:spPr>
          <a:xfrm>
            <a:off x="0" y="0"/>
            <a:ext cx="12192000" cy="914400"/>
          </a:xfrm>
          <a:prstGeom prst="rect">
            <a:avLst/>
          </a:prstGeom>
          <a:solidFill>
            <a:srgbClr val="102A43"/>
          </a:solidFill>
        </p:spPr>
        <p:txBody>
          <a:bodyPr vert="horz" wrap="square" rtlCol="0" anchor="ctr">
            <a:normAutofit/>
          </a:bodyPr>
          <a:lstStyle/>
          <a:p>
            <a:r>
              <a:rPr lang="en-US" sz="2800" b="1" dirty="0">
                <a:solidFill>
                  <a:srgbClr val="FFFFFF"/>
                </a:solidFill>
                <a:latin typeface="Trebuchet MS"/>
              </a:rPr>
              <a:t>Stage 1 · Listen &amp; Consult</a:t>
            </a:r>
          </a:p>
        </p:txBody>
      </p:sp>
      <p:graphicFrame>
        <p:nvGraphicFramePr>
          <p:cNvPr id="4" name="Table 1"/>
          <p:cNvGraphicFramePr>
            <a:graphicFrameLocks noGrp="1"/>
          </p:cNvGraphicFramePr>
          <p:nvPr/>
        </p:nvGraphicFramePr>
        <p:xfrm>
          <a:off x="457200" y="1143000"/>
          <a:ext cx="11277601" cy="2228850"/>
        </p:xfrm>
        <a:graphic>
          <a:graphicData uri="http://schemas.openxmlformats.org/drawingml/2006/table">
            <a:tbl>
              <a:tblPr firstRow="1" bandRow="1"/>
              <a:tblGrid>
                <a:gridCol w="2033666">
                  <a:extLst>
                    <a:ext uri="{9D8B030D-6E8A-4147-A177-3AD203B41FA5}">
                      <a16:colId xmlns:a16="http://schemas.microsoft.com/office/drawing/2014/main" val="20000"/>
                    </a:ext>
                  </a:extLst>
                </a:gridCol>
                <a:gridCol w="5546361">
                  <a:extLst>
                    <a:ext uri="{9D8B030D-6E8A-4147-A177-3AD203B41FA5}">
                      <a16:colId xmlns:a16="http://schemas.microsoft.com/office/drawing/2014/main" val="20001"/>
                    </a:ext>
                  </a:extLst>
                </a:gridCol>
                <a:gridCol w="3697574">
                  <a:extLst>
                    <a:ext uri="{9D8B030D-6E8A-4147-A177-3AD203B41FA5}">
                      <a16:colId xmlns:a16="http://schemas.microsoft.com/office/drawing/2014/main" val="20002"/>
                    </a:ext>
                  </a:extLst>
                </a:gridCol>
              </a:tblGrid>
              <a:tr h="457200">
                <a:tc>
                  <a:txBody>
                    <a:bodyPr/>
                    <a:lstStyle/>
                    <a:p>
                      <a:r>
                        <a:rPr lang="en-US" sz="1200" b="1" dirty="0">
                          <a:solidFill>
                            <a:srgbClr val="FFFFFF"/>
                          </a:solidFill>
                          <a:latin typeface="Trebuchet MS"/>
                        </a:rPr>
                        <a:t>Gate element</a:t>
                      </a:r>
                    </a:p>
                  </a:txBody>
                  <a:tcPr anchor="ctr">
                    <a:solidFill>
                      <a:srgbClr val="2A446F"/>
                    </a:solidFill>
                  </a:tcPr>
                </a:tc>
                <a:tc>
                  <a:txBody>
                    <a:bodyPr/>
                    <a:lstStyle/>
                    <a:p>
                      <a:r>
                        <a:rPr lang="en-US" sz="1200" b="1" dirty="0">
                          <a:solidFill>
                            <a:srgbClr val="FFFFFF"/>
                          </a:solidFill>
                          <a:latin typeface="Trebuchet MS"/>
                        </a:rPr>
                        <a:t>What must be true</a:t>
                      </a:r>
                    </a:p>
                  </a:txBody>
                  <a:tcPr anchor="ctr">
                    <a:solidFill>
                      <a:srgbClr val="2A446F"/>
                    </a:solidFill>
                  </a:tcPr>
                </a:tc>
                <a:tc>
                  <a:txBody>
                    <a:bodyPr/>
                    <a:lstStyle/>
                    <a:p>
                      <a:r>
                        <a:rPr lang="en-US" sz="1200" b="1" dirty="0">
                          <a:solidFill>
                            <a:srgbClr val="FFFFFF"/>
                          </a:solidFill>
                          <a:latin typeface="Trebuchet MS"/>
                        </a:rPr>
                        <a:t>Primary roles</a:t>
                      </a:r>
                    </a:p>
                  </a:txBody>
                  <a:tcPr anchor="ctr">
                    <a:solidFill>
                      <a:srgbClr val="2A446F"/>
                    </a:solidFill>
                  </a:tcPr>
                </a:tc>
                <a:extLst>
                  <a:ext uri="{0D108BD9-81ED-4DB2-BD59-A6C34878D82A}">
                    <a16:rowId xmlns:a16="http://schemas.microsoft.com/office/drawing/2014/main" val="10000"/>
                  </a:ext>
                </a:extLst>
              </a:tr>
              <a:tr h="400050">
                <a:tc>
                  <a:txBody>
                    <a:bodyPr/>
                    <a:lstStyle/>
                    <a:p>
                      <a:r>
                        <a:rPr lang="en-US" sz="1200" dirty="0">
                          <a:solidFill>
                            <a:srgbClr val="172B4D"/>
                          </a:solidFill>
                          <a:latin typeface="Calibri"/>
                        </a:rPr>
                        <a:t>Objective</a:t>
                      </a:r>
                    </a:p>
                  </a:txBody>
                  <a:tcPr anchor="ctr">
                    <a:solidFill>
                      <a:srgbClr val="F7F9FC"/>
                    </a:solidFill>
                  </a:tcPr>
                </a:tc>
                <a:tc>
                  <a:txBody>
                    <a:bodyPr/>
                    <a:lstStyle/>
                    <a:p>
                      <a:r>
                        <a:rPr lang="en-US" sz="1200" dirty="0">
                          <a:solidFill>
                            <a:srgbClr val="172B4D"/>
                          </a:solidFill>
                          <a:latin typeface="Calibri"/>
                        </a:rPr>
                        <a:t>Understand customer context, priorities, stakeholders, desired outcomes, and opportunity viability.</a:t>
                      </a:r>
                    </a:p>
                  </a:txBody>
                  <a:tcPr anchor="ctr">
                    <a:solidFill>
                      <a:srgbClr val="F7F9FC"/>
                    </a:solidFill>
                  </a:tcPr>
                </a:tc>
                <a:tc>
                  <a:txBody>
                    <a:bodyPr/>
                    <a:lstStyle/>
                    <a:p>
                      <a:r>
                        <a:rPr lang="en-US" sz="1200" dirty="0">
                          <a:solidFill>
                            <a:srgbClr val="172B4D"/>
                          </a:solidFill>
                          <a:latin typeface="Calibri"/>
                        </a:rPr>
                        <a:t>ATU-led: AE/DAE; ATS, IA, CE, SAE as applicable</a:t>
                      </a:r>
                    </a:p>
                  </a:txBody>
                  <a:tcPr anchor="ctr">
                    <a:solidFill>
                      <a:srgbClr val="F7F9FC"/>
                    </a:solidFill>
                  </a:tcPr>
                </a:tc>
                <a:extLst>
                  <a:ext uri="{0D108BD9-81ED-4DB2-BD59-A6C34878D82A}">
                    <a16:rowId xmlns:a16="http://schemas.microsoft.com/office/drawing/2014/main" val="10001"/>
                  </a:ext>
                </a:extLst>
              </a:tr>
              <a:tr h="400050">
                <a:tc>
                  <a:txBody>
                    <a:bodyPr/>
                    <a:lstStyle/>
                    <a:p>
                      <a:r>
                        <a:rPr lang="en-US" sz="1200" dirty="0">
                          <a:solidFill>
                            <a:srgbClr val="172B4D"/>
                          </a:solidFill>
                          <a:latin typeface="Calibri"/>
                        </a:rPr>
                        <a:t>Required evidence</a:t>
                      </a:r>
                    </a:p>
                  </a:txBody>
                  <a:tcPr anchor="ctr">
                    <a:solidFill>
                      <a:srgbClr val="FFFFFF"/>
                    </a:solidFill>
                  </a:tcPr>
                </a:tc>
                <a:tc>
                  <a:txBody>
                    <a:bodyPr/>
                    <a:lstStyle/>
                    <a:p>
                      <a:r>
                        <a:rPr lang="en-US" sz="1200" dirty="0">
                          <a:solidFill>
                            <a:srgbClr val="172B4D"/>
                          </a:solidFill>
                          <a:latin typeface="Calibri"/>
                        </a:rPr>
                        <a:t>Discovery identifies the right Conversation and a qualified opportunity. BOAT is complete: Budget, Outcomes, Approval, Timing.</a:t>
                      </a:r>
                    </a:p>
                  </a:txBody>
                  <a:tcPr anchor="ctr">
                    <a:solidFill>
                      <a:srgbClr val="FFFFFF"/>
                    </a:solidFill>
                  </a:tcPr>
                </a:tc>
                <a:tc>
                  <a:txBody>
                    <a:bodyPr/>
                    <a:lstStyle/>
                    <a:p>
                      <a:r>
                        <a:rPr lang="en-US" sz="1200" dirty="0">
                          <a:solidFill>
                            <a:srgbClr val="172B4D"/>
                          </a:solidFill>
                          <a:latin typeface="Calibri"/>
                        </a:rPr>
                        <a:t>STU supports signals/discovery; CSAM/Partner adds execution context</a:t>
                      </a:r>
                    </a:p>
                  </a:txBody>
                  <a:tcPr anchor="ctr">
                    <a:solidFill>
                      <a:srgbClr val="FFFFFF"/>
                    </a:solidFill>
                  </a:tcPr>
                </a:tc>
                <a:extLst>
                  <a:ext uri="{0D108BD9-81ED-4DB2-BD59-A6C34878D82A}">
                    <a16:rowId xmlns:a16="http://schemas.microsoft.com/office/drawing/2014/main" val="10002"/>
                  </a:ext>
                </a:extLst>
              </a:tr>
              <a:tr h="400050">
                <a:tc>
                  <a:txBody>
                    <a:bodyPr/>
                    <a:lstStyle/>
                    <a:p>
                      <a:r>
                        <a:rPr lang="en-US" sz="1200" dirty="0">
                          <a:solidFill>
                            <a:srgbClr val="172B4D"/>
                          </a:solidFill>
                          <a:latin typeface="Calibri"/>
                        </a:rPr>
                        <a:t>Official exit criterion</a:t>
                      </a:r>
                    </a:p>
                  </a:txBody>
                  <a:tcPr anchor="ctr">
                    <a:solidFill>
                      <a:srgbClr val="F7F9FC"/>
                    </a:solidFill>
                  </a:tcPr>
                </a:tc>
                <a:tc>
                  <a:txBody>
                    <a:bodyPr/>
                    <a:lstStyle/>
                    <a:p>
                      <a:r>
                        <a:rPr lang="en-US" sz="1200" dirty="0">
                          <a:solidFill>
                            <a:srgbClr val="172B4D"/>
                          </a:solidFill>
                          <a:latin typeface="Calibri"/>
                        </a:rPr>
                        <a:t>Conversations and Qualified Pipeline identified via Discovery Questions.</a:t>
                      </a:r>
                    </a:p>
                  </a:txBody>
                  <a:tcPr anchor="ctr">
                    <a:solidFill>
                      <a:srgbClr val="F7F9FC"/>
                    </a:solidFill>
                  </a:tcPr>
                </a:tc>
                <a:tc>
                  <a:txBody>
                    <a:bodyPr/>
                    <a:lstStyle/>
                    <a:p>
                      <a:r>
                        <a:rPr lang="en-US" sz="1200" dirty="0">
                          <a:solidFill>
                            <a:srgbClr val="172B4D"/>
                          </a:solidFill>
                          <a:latin typeface="Calibri"/>
                        </a:rPr>
                        <a:t>ATU accountable</a:t>
                      </a:r>
                    </a:p>
                  </a:txBody>
                  <a:tcPr anchor="ctr">
                    <a:solidFill>
                      <a:srgbClr val="F7F9FC"/>
                    </a:solidFill>
                  </a:tcPr>
                </a:tc>
                <a:extLst>
                  <a:ext uri="{0D108BD9-81ED-4DB2-BD59-A6C34878D82A}">
                    <a16:rowId xmlns:a16="http://schemas.microsoft.com/office/drawing/2014/main" val="10003"/>
                  </a:ext>
                </a:extLst>
              </a:tr>
              <a:tr h="400050">
                <a:tc>
                  <a:txBody>
                    <a:bodyPr/>
                    <a:lstStyle/>
                    <a:p>
                      <a:r>
                        <a:rPr lang="en-US" sz="1200" dirty="0">
                          <a:solidFill>
                            <a:srgbClr val="172B4D"/>
                          </a:solidFill>
                          <a:latin typeface="Calibri"/>
                        </a:rPr>
                        <a:t>Decision</a:t>
                      </a:r>
                    </a:p>
                  </a:txBody>
                  <a:tcPr anchor="ctr">
                    <a:solidFill>
                      <a:srgbClr val="FFFFFF"/>
                    </a:solidFill>
                  </a:tcPr>
                </a:tc>
                <a:tc>
                  <a:txBody>
                    <a:bodyPr/>
                    <a:lstStyle/>
                    <a:p>
                      <a:r>
                        <a:rPr lang="en-US" sz="1200" dirty="0">
                          <a:solidFill>
                            <a:srgbClr val="172B4D"/>
                          </a:solidFill>
                          <a:latin typeface="Calibri"/>
                        </a:rPr>
                        <a:t>ADVANCE only with all BOAT evidence. HOLD if any item is incomplete. RECYCLE discovery if priority, sponsorship, or problem definition is unclear.</a:t>
                      </a:r>
                    </a:p>
                  </a:txBody>
                  <a:tcPr anchor="ctr">
                    <a:solidFill>
                      <a:srgbClr val="FFFFFF"/>
                    </a:solidFill>
                  </a:tcPr>
                </a:tc>
                <a:tc>
                  <a:txBody>
                    <a:bodyPr/>
                    <a:lstStyle/>
                    <a:p>
                      <a:r>
                        <a:rPr lang="en-US" sz="1200" dirty="0">
                          <a:solidFill>
                            <a:srgbClr val="172B4D"/>
                          </a:solidFill>
                          <a:latin typeface="Calibri"/>
                        </a:rPr>
                        <a:t>AE owns qualification; customer BDM/TDM and sponsor validate</a:t>
                      </a:r>
                    </a:p>
                  </a:txBody>
                  <a:tcPr anchor="ctr">
                    <a:solidFill>
                      <a:srgbClr val="FFFFFF"/>
                    </a:solidFill>
                  </a:tcPr>
                </a:tc>
                <a:extLst>
                  <a:ext uri="{0D108BD9-81ED-4DB2-BD59-A6C34878D82A}">
                    <a16:rowId xmlns:a16="http://schemas.microsoft.com/office/drawing/2014/main" val="10004"/>
                  </a:ext>
                </a:extLst>
              </a:tr>
            </a:tbl>
          </a:graphicData>
        </a:graphic>
      </p:graphicFrame>
      <p:sp>
        <p:nvSpPr>
          <p:cNvPr id="5" name="Source Note"/>
          <p:cNvSpPr/>
          <p:nvPr/>
        </p:nvSpPr>
        <p:spPr>
          <a:xfrm>
            <a:off x="457200" y="3314700"/>
            <a:ext cx="11277600" cy="285750"/>
          </a:xfrm>
          <a:prstGeom prst="rect">
            <a:avLst/>
          </a:prstGeom>
          <a:noFill/>
        </p:spPr>
        <p:txBody>
          <a:bodyPr vert="horz" wrap="square" rtlCol="0" anchor="t">
            <a:normAutofit/>
          </a:bodyPr>
          <a:lstStyle/>
          <a:p>
            <a:r>
              <a:rPr lang="en-US" sz="1000" i="1" dirty="0">
                <a:solidFill>
                  <a:srgbClr val="52616B"/>
                </a:solidFill>
                <a:latin typeface="Calibri"/>
              </a:rPr>
              <a:t>MCEM Overview; FY27 MCEM Summary of Changes; FY27 orchestration guides</a:t>
            </a:r>
          </a:p>
        </p:txBody>
      </p:sp>
      <p:sp>
        <p:nvSpPr>
          <p:cNvPr id="100" name="Running Footer"/>
          <p:cNvSpPr>
            <a:spLocks noGrp="1"/>
          </p:cNvSpPr>
          <p:nvPr/>
        </p:nvSpPr>
        <p:spPr>
          <a:xfrm>
            <a:off x="457200" y="6492240"/>
            <a:ext cx="10180320" cy="274320"/>
          </a:xfrm>
          <a:prstGeom prst="rect">
            <a:avLst/>
          </a:prstGeom>
          <a:noFill/>
        </p:spPr>
        <p:txBody>
          <a:bodyPr vert="horz" wrap="square" rtlCol="0" anchor="ctr">
            <a:normAutofit/>
          </a:bodyPr>
          <a:lstStyle/>
          <a:p>
            <a:pPr algn="l"/>
            <a:r>
              <a:rPr lang="en-US" sz="1000" dirty="0">
                <a:solidFill>
                  <a:srgbClr val="52616B"/>
                </a:solidFill>
                <a:latin typeface="Calibri"/>
              </a:rPr>
              <a:t>FY27 MCEM · Stage Gates &amp; Roles</a:t>
            </a:r>
          </a:p>
        </p:txBody>
      </p:sp>
      <p:sp>
        <p:nvSpPr>
          <p:cNvPr id="101" name="Running Footer Page Number"/>
          <p:cNvSpPr>
            <a:spLocks noGrp="1"/>
          </p:cNvSpPr>
          <p:nvPr/>
        </p:nvSpPr>
        <p:spPr>
          <a:xfrm>
            <a:off x="10637520" y="6492240"/>
            <a:ext cx="1097280" cy="274320"/>
          </a:xfrm>
          <a:prstGeom prst="rect">
            <a:avLst/>
          </a:prstGeom>
          <a:noFill/>
        </p:spPr>
        <p:txBody>
          <a:bodyPr vert="horz" wrap="square" rtlCol="0" anchor="ctr">
            <a:normAutofit/>
          </a:bodyPr>
          <a:lstStyle/>
          <a:p>
            <a:pPr algn="r"/>
            <a:r>
              <a:rPr lang="en-US" sz="1000" dirty="0">
                <a:solidFill>
                  <a:srgbClr val="52616B"/>
                </a:solidFill>
                <a:latin typeface="Calibri"/>
              </a:rPr>
              <a:t>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99" name="Accent Bar"/>
          <p:cNvSpPr>
            <a:spLocks noGrp="1"/>
          </p:cNvSpPr>
          <p:nvPr/>
        </p:nvSpPr>
        <p:spPr>
          <a:xfrm>
            <a:off x="0" y="0"/>
            <a:ext cx="12192000" cy="73152"/>
          </a:xfrm>
          <a:prstGeom prst="rect">
            <a:avLst/>
          </a:prstGeom>
          <a:solidFill>
            <a:srgbClr val="2A446F"/>
          </a:solidFill>
        </p:spPr>
        <p:txBody>
          <a:bodyPr/>
          <a:lstStyle/>
          <a:p>
            <a:endParaRPr/>
          </a:p>
        </p:txBody>
      </p:sp>
      <p:sp>
        <p:nvSpPr>
          <p:cNvPr id="2" name="Title Bar"/>
          <p:cNvSpPr>
            <a:spLocks noGrp="1"/>
          </p:cNvSpPr>
          <p:nvPr/>
        </p:nvSpPr>
        <p:spPr>
          <a:xfrm>
            <a:off x="0" y="0"/>
            <a:ext cx="12192000" cy="914400"/>
          </a:xfrm>
          <a:prstGeom prst="rect">
            <a:avLst/>
          </a:prstGeom>
          <a:solidFill>
            <a:srgbClr val="102A43"/>
          </a:solidFill>
        </p:spPr>
        <p:txBody>
          <a:bodyPr vert="horz" wrap="square" rtlCol="0" anchor="ctr">
            <a:normAutofit/>
          </a:bodyPr>
          <a:lstStyle/>
          <a:p>
            <a:r>
              <a:rPr lang="en-US" sz="2800" b="1" dirty="0">
                <a:solidFill>
                  <a:srgbClr val="FFFFFF"/>
                </a:solidFill>
                <a:latin typeface="Trebuchet MS"/>
              </a:rPr>
              <a:t>Stage 2 · Inspire &amp; Design</a:t>
            </a:r>
          </a:p>
        </p:txBody>
      </p:sp>
      <p:graphicFrame>
        <p:nvGraphicFramePr>
          <p:cNvPr id="4" name="Table 1"/>
          <p:cNvGraphicFramePr>
            <a:graphicFrameLocks noGrp="1"/>
          </p:cNvGraphicFramePr>
          <p:nvPr/>
        </p:nvGraphicFramePr>
        <p:xfrm>
          <a:off x="457200" y="1143000"/>
          <a:ext cx="11277601" cy="2537460"/>
        </p:xfrm>
        <a:graphic>
          <a:graphicData uri="http://schemas.openxmlformats.org/drawingml/2006/table">
            <a:tbl>
              <a:tblPr firstRow="1" bandRow="1"/>
              <a:tblGrid>
                <a:gridCol w="2033666">
                  <a:extLst>
                    <a:ext uri="{9D8B030D-6E8A-4147-A177-3AD203B41FA5}">
                      <a16:colId xmlns:a16="http://schemas.microsoft.com/office/drawing/2014/main" val="20000"/>
                    </a:ext>
                  </a:extLst>
                </a:gridCol>
                <a:gridCol w="5546361">
                  <a:extLst>
                    <a:ext uri="{9D8B030D-6E8A-4147-A177-3AD203B41FA5}">
                      <a16:colId xmlns:a16="http://schemas.microsoft.com/office/drawing/2014/main" val="20001"/>
                    </a:ext>
                  </a:extLst>
                </a:gridCol>
                <a:gridCol w="3697574">
                  <a:extLst>
                    <a:ext uri="{9D8B030D-6E8A-4147-A177-3AD203B41FA5}">
                      <a16:colId xmlns:a16="http://schemas.microsoft.com/office/drawing/2014/main" val="20002"/>
                    </a:ext>
                  </a:extLst>
                </a:gridCol>
              </a:tblGrid>
              <a:tr h="457200">
                <a:tc>
                  <a:txBody>
                    <a:bodyPr/>
                    <a:lstStyle/>
                    <a:p>
                      <a:r>
                        <a:rPr lang="en-US" sz="1200" b="1" dirty="0">
                          <a:solidFill>
                            <a:srgbClr val="FFFFFF"/>
                          </a:solidFill>
                          <a:latin typeface="Trebuchet MS"/>
                        </a:rPr>
                        <a:t>Gate element</a:t>
                      </a:r>
                    </a:p>
                  </a:txBody>
                  <a:tcPr anchor="ctr">
                    <a:solidFill>
                      <a:srgbClr val="2A446F"/>
                    </a:solidFill>
                  </a:tcPr>
                </a:tc>
                <a:tc>
                  <a:txBody>
                    <a:bodyPr/>
                    <a:lstStyle/>
                    <a:p>
                      <a:r>
                        <a:rPr lang="en-US" sz="1200" b="1" dirty="0">
                          <a:solidFill>
                            <a:srgbClr val="FFFFFF"/>
                          </a:solidFill>
                          <a:latin typeface="Trebuchet MS"/>
                        </a:rPr>
                        <a:t>What must be true</a:t>
                      </a:r>
                    </a:p>
                  </a:txBody>
                  <a:tcPr anchor="ctr">
                    <a:solidFill>
                      <a:srgbClr val="2A446F"/>
                    </a:solidFill>
                  </a:tcPr>
                </a:tc>
                <a:tc>
                  <a:txBody>
                    <a:bodyPr/>
                    <a:lstStyle/>
                    <a:p>
                      <a:r>
                        <a:rPr lang="en-US" sz="1200" b="1" dirty="0">
                          <a:solidFill>
                            <a:srgbClr val="FFFFFF"/>
                          </a:solidFill>
                          <a:latin typeface="Trebuchet MS"/>
                        </a:rPr>
                        <a:t>Primary roles</a:t>
                      </a:r>
                    </a:p>
                  </a:txBody>
                  <a:tcPr anchor="ctr">
                    <a:solidFill>
                      <a:srgbClr val="2A446F"/>
                    </a:solidFill>
                  </a:tcPr>
                </a:tc>
                <a:extLst>
                  <a:ext uri="{0D108BD9-81ED-4DB2-BD59-A6C34878D82A}">
                    <a16:rowId xmlns:a16="http://schemas.microsoft.com/office/drawing/2014/main" val="10000"/>
                  </a:ext>
                </a:extLst>
              </a:tr>
              <a:tr h="400050">
                <a:tc>
                  <a:txBody>
                    <a:bodyPr/>
                    <a:lstStyle/>
                    <a:p>
                      <a:r>
                        <a:rPr lang="en-US" sz="1200" dirty="0">
                          <a:solidFill>
                            <a:srgbClr val="172B4D"/>
                          </a:solidFill>
                          <a:latin typeface="Calibri"/>
                        </a:rPr>
                        <a:t>Objective</a:t>
                      </a:r>
                    </a:p>
                  </a:txBody>
                  <a:tcPr anchor="ctr">
                    <a:solidFill>
                      <a:srgbClr val="F7F9FC"/>
                    </a:solidFill>
                  </a:tcPr>
                </a:tc>
                <a:tc>
                  <a:txBody>
                    <a:bodyPr/>
                    <a:lstStyle/>
                    <a:p>
                      <a:r>
                        <a:rPr lang="en-US" sz="1200" dirty="0">
                          <a:solidFill>
                            <a:srgbClr val="172B4D"/>
                          </a:solidFill>
                          <a:latin typeface="Calibri"/>
                        </a:rPr>
                        <a:t>Shape a shared solution vision, value case, technical path, and route to delivery.</a:t>
                      </a:r>
                    </a:p>
                  </a:txBody>
                  <a:tcPr anchor="ctr">
                    <a:solidFill>
                      <a:srgbClr val="F7F9FC"/>
                    </a:solidFill>
                  </a:tcPr>
                </a:tc>
                <a:tc>
                  <a:txBody>
                    <a:bodyPr/>
                    <a:lstStyle/>
                    <a:p>
                      <a:r>
                        <a:rPr lang="en-US" sz="1200" dirty="0">
                          <a:solidFill>
                            <a:srgbClr val="172B4D"/>
                          </a:solidFill>
                          <a:latin typeface="Calibri"/>
                        </a:rPr>
                        <a:t>STU-led: SSP/DSS and SE/DSE</a:t>
                      </a:r>
                    </a:p>
                  </a:txBody>
                  <a:tcPr anchor="ctr">
                    <a:solidFill>
                      <a:srgbClr val="F7F9FC"/>
                    </a:solidFill>
                  </a:tcPr>
                </a:tc>
                <a:extLst>
                  <a:ext uri="{0D108BD9-81ED-4DB2-BD59-A6C34878D82A}">
                    <a16:rowId xmlns:a16="http://schemas.microsoft.com/office/drawing/2014/main" val="10001"/>
                  </a:ext>
                </a:extLst>
              </a:tr>
              <a:tr h="400050">
                <a:tc>
                  <a:txBody>
                    <a:bodyPr/>
                    <a:lstStyle/>
                    <a:p>
                      <a:r>
                        <a:rPr lang="en-US" sz="1200" dirty="0">
                          <a:solidFill>
                            <a:srgbClr val="172B4D"/>
                          </a:solidFill>
                          <a:latin typeface="Calibri"/>
                        </a:rPr>
                        <a:t>Required evidence</a:t>
                      </a:r>
                    </a:p>
                  </a:txBody>
                  <a:tcPr anchor="ctr">
                    <a:solidFill>
                      <a:srgbClr val="FFFFFF"/>
                    </a:solidFill>
                  </a:tcPr>
                </a:tc>
                <a:tc>
                  <a:txBody>
                    <a:bodyPr/>
                    <a:lstStyle/>
                    <a:p>
                      <a:r>
                        <a:rPr lang="en-US" sz="1200" dirty="0">
                          <a:solidFill>
                            <a:srgbClr val="172B4D"/>
                          </a:solidFill>
                          <a:latin typeface="Calibri"/>
                        </a:rPr>
                        <a:t>Conversations and BVA completed; workshop, architecture, demo, or prototype validates the path; consumption/adoption and success planning begun; scale engines identified.</a:t>
                      </a:r>
                    </a:p>
                  </a:txBody>
                  <a:tcPr anchor="ctr">
                    <a:solidFill>
                      <a:srgbClr val="FFFFFF"/>
                    </a:solidFill>
                  </a:tcPr>
                </a:tc>
                <a:tc>
                  <a:txBody>
                    <a:bodyPr/>
                    <a:lstStyle/>
                    <a:p>
                      <a:r>
                        <a:rPr lang="en-US" sz="1200" dirty="0">
                          <a:solidFill>
                            <a:srgbClr val="172B4D"/>
                          </a:solidFill>
                          <a:latin typeface="Calibri"/>
                        </a:rPr>
                        <a:t>ATU shapes customer/commercial path; CSU and Partners review plans</a:t>
                      </a:r>
                    </a:p>
                  </a:txBody>
                  <a:tcPr anchor="ctr">
                    <a:solidFill>
                      <a:srgbClr val="FFFFFF"/>
                    </a:solidFill>
                  </a:tcPr>
                </a:tc>
                <a:extLst>
                  <a:ext uri="{0D108BD9-81ED-4DB2-BD59-A6C34878D82A}">
                    <a16:rowId xmlns:a16="http://schemas.microsoft.com/office/drawing/2014/main" val="10002"/>
                  </a:ext>
                </a:extLst>
              </a:tr>
              <a:tr h="400050">
                <a:tc>
                  <a:txBody>
                    <a:bodyPr/>
                    <a:lstStyle/>
                    <a:p>
                      <a:r>
                        <a:rPr lang="en-US" sz="1200" dirty="0">
                          <a:solidFill>
                            <a:srgbClr val="172B4D"/>
                          </a:solidFill>
                          <a:latin typeface="Calibri"/>
                        </a:rPr>
                        <a:t>Official exit criterion</a:t>
                      </a:r>
                    </a:p>
                  </a:txBody>
                  <a:tcPr anchor="ctr">
                    <a:solidFill>
                      <a:srgbClr val="F7F9FC"/>
                    </a:solidFill>
                  </a:tcPr>
                </a:tc>
                <a:tc>
                  <a:txBody>
                    <a:bodyPr/>
                    <a:lstStyle/>
                    <a:p>
                      <a:r>
                        <a:rPr lang="en-US" sz="1200" dirty="0">
                          <a:solidFill>
                            <a:srgbClr val="172B4D"/>
                          </a:solidFill>
                          <a:latin typeface="Calibri"/>
                        </a:rPr>
                        <a:t>Customer Conversations complete to prove value and rapidly solution.</a:t>
                      </a:r>
                    </a:p>
                  </a:txBody>
                  <a:tcPr anchor="ctr">
                    <a:solidFill>
                      <a:srgbClr val="F7F9FC"/>
                    </a:solidFill>
                  </a:tcPr>
                </a:tc>
                <a:tc>
                  <a:txBody>
                    <a:bodyPr/>
                    <a:lstStyle/>
                    <a:p>
                      <a:r>
                        <a:rPr lang="en-US" sz="1200" dirty="0">
                          <a:solidFill>
                            <a:srgbClr val="172B4D"/>
                          </a:solidFill>
                          <a:latin typeface="Calibri"/>
                        </a:rPr>
                        <a:t>STU accountable</a:t>
                      </a:r>
                    </a:p>
                  </a:txBody>
                  <a:tcPr anchor="ctr">
                    <a:solidFill>
                      <a:srgbClr val="F7F9FC"/>
                    </a:solidFill>
                  </a:tcPr>
                </a:tc>
                <a:extLst>
                  <a:ext uri="{0D108BD9-81ED-4DB2-BD59-A6C34878D82A}">
                    <a16:rowId xmlns:a16="http://schemas.microsoft.com/office/drawing/2014/main" val="10003"/>
                  </a:ext>
                </a:extLst>
              </a:tr>
              <a:tr h="400050">
                <a:tc>
                  <a:txBody>
                    <a:bodyPr/>
                    <a:lstStyle/>
                    <a:p>
                      <a:r>
                        <a:rPr lang="en-US" sz="1200" dirty="0">
                          <a:solidFill>
                            <a:srgbClr val="172B4D"/>
                          </a:solidFill>
                          <a:latin typeface="Calibri"/>
                        </a:rPr>
                        <a:t>Decision</a:t>
                      </a:r>
                    </a:p>
                  </a:txBody>
                  <a:tcPr anchor="ctr">
                    <a:solidFill>
                      <a:srgbClr val="FFFFFF"/>
                    </a:solidFill>
                  </a:tcPr>
                </a:tc>
                <a:tc>
                  <a:txBody>
                    <a:bodyPr/>
                    <a:lstStyle/>
                    <a:p>
                      <a:r>
                        <a:rPr lang="en-US" sz="1200" dirty="0">
                          <a:solidFill>
                            <a:srgbClr val="172B4D"/>
                          </a:solidFill>
                          <a:latin typeface="Calibri"/>
                        </a:rPr>
                        <a:t>ADVANCE when value, technical fit, delivery path, and plans are credible. HOLD for missing proof or capacity. RECYCLE to Stage 1 if customer outcomes or qualification changed.</a:t>
                      </a:r>
                    </a:p>
                  </a:txBody>
                  <a:tcPr anchor="ctr">
                    <a:solidFill>
                      <a:srgbClr val="FFFFFF"/>
                    </a:solidFill>
                  </a:tcPr>
                </a:tc>
                <a:tc>
                  <a:txBody>
                    <a:bodyPr/>
                    <a:lstStyle/>
                    <a:p>
                      <a:r>
                        <a:rPr lang="en-US" sz="1200" dirty="0">
                          <a:solidFill>
                            <a:srgbClr val="172B4D"/>
                          </a:solidFill>
                          <a:latin typeface="Calibri"/>
                        </a:rPr>
                        <a:t>Customer BDM/TDM confirms relevance and feasibility</a:t>
                      </a:r>
                    </a:p>
                  </a:txBody>
                  <a:tcPr anchor="ctr">
                    <a:solidFill>
                      <a:srgbClr val="FFFFFF"/>
                    </a:solidFill>
                  </a:tcPr>
                </a:tc>
                <a:extLst>
                  <a:ext uri="{0D108BD9-81ED-4DB2-BD59-A6C34878D82A}">
                    <a16:rowId xmlns:a16="http://schemas.microsoft.com/office/drawing/2014/main" val="10004"/>
                  </a:ext>
                </a:extLst>
              </a:tr>
            </a:tbl>
          </a:graphicData>
        </a:graphic>
      </p:graphicFrame>
      <p:sp>
        <p:nvSpPr>
          <p:cNvPr id="5" name="Source Note"/>
          <p:cNvSpPr/>
          <p:nvPr/>
        </p:nvSpPr>
        <p:spPr>
          <a:xfrm>
            <a:off x="457200" y="3314700"/>
            <a:ext cx="11277600" cy="285750"/>
          </a:xfrm>
          <a:prstGeom prst="rect">
            <a:avLst/>
          </a:prstGeom>
          <a:noFill/>
        </p:spPr>
        <p:txBody>
          <a:bodyPr vert="horz" wrap="square" rtlCol="0" anchor="t">
            <a:normAutofit/>
          </a:bodyPr>
          <a:lstStyle/>
          <a:p>
            <a:r>
              <a:rPr lang="en-US" sz="1000" i="1" dirty="0">
                <a:solidFill>
                  <a:srgbClr val="52616B"/>
                </a:solidFill>
                <a:latin typeface="Calibri"/>
              </a:rPr>
              <a:t>FY27 MCEM Summary of Changes; FY27 Enterprise and SME&amp;C orchestration guides</a:t>
            </a:r>
          </a:p>
        </p:txBody>
      </p:sp>
      <p:sp>
        <p:nvSpPr>
          <p:cNvPr id="100" name="Running Footer"/>
          <p:cNvSpPr>
            <a:spLocks noGrp="1"/>
          </p:cNvSpPr>
          <p:nvPr/>
        </p:nvSpPr>
        <p:spPr>
          <a:xfrm>
            <a:off x="457200" y="6492240"/>
            <a:ext cx="10180320" cy="274320"/>
          </a:xfrm>
          <a:prstGeom prst="rect">
            <a:avLst/>
          </a:prstGeom>
          <a:noFill/>
        </p:spPr>
        <p:txBody>
          <a:bodyPr vert="horz" wrap="square" rtlCol="0" anchor="ctr">
            <a:normAutofit/>
          </a:bodyPr>
          <a:lstStyle/>
          <a:p>
            <a:pPr algn="l"/>
            <a:r>
              <a:rPr lang="en-US" sz="1000" dirty="0">
                <a:solidFill>
                  <a:srgbClr val="52616B"/>
                </a:solidFill>
                <a:latin typeface="Calibri"/>
              </a:rPr>
              <a:t>FY27 MCEM · Stage Gates &amp; Roles</a:t>
            </a:r>
          </a:p>
        </p:txBody>
      </p:sp>
      <p:sp>
        <p:nvSpPr>
          <p:cNvPr id="101" name="Running Footer Page Number"/>
          <p:cNvSpPr>
            <a:spLocks noGrp="1"/>
          </p:cNvSpPr>
          <p:nvPr/>
        </p:nvSpPr>
        <p:spPr>
          <a:xfrm>
            <a:off x="10637520" y="6492240"/>
            <a:ext cx="1097280" cy="274320"/>
          </a:xfrm>
          <a:prstGeom prst="rect">
            <a:avLst/>
          </a:prstGeom>
          <a:noFill/>
        </p:spPr>
        <p:txBody>
          <a:bodyPr vert="horz" wrap="square" rtlCol="0" anchor="ctr">
            <a:normAutofit/>
          </a:bodyPr>
          <a:lstStyle/>
          <a:p>
            <a:pPr algn="r"/>
            <a:r>
              <a:rPr lang="en-US" sz="1000" dirty="0">
                <a:solidFill>
                  <a:srgbClr val="52616B"/>
                </a:solidFill>
                <a:latin typeface="Calibri"/>
              </a:rPr>
              <a:t>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99" name="Accent Bar"/>
          <p:cNvSpPr>
            <a:spLocks noGrp="1"/>
          </p:cNvSpPr>
          <p:nvPr/>
        </p:nvSpPr>
        <p:spPr>
          <a:xfrm>
            <a:off x="0" y="0"/>
            <a:ext cx="12192000" cy="73152"/>
          </a:xfrm>
          <a:prstGeom prst="rect">
            <a:avLst/>
          </a:prstGeom>
          <a:solidFill>
            <a:srgbClr val="2A446F"/>
          </a:solidFill>
        </p:spPr>
        <p:txBody>
          <a:bodyPr/>
          <a:lstStyle/>
          <a:p>
            <a:endParaRPr/>
          </a:p>
        </p:txBody>
      </p:sp>
      <p:sp>
        <p:nvSpPr>
          <p:cNvPr id="2" name="Title Bar"/>
          <p:cNvSpPr>
            <a:spLocks noGrp="1"/>
          </p:cNvSpPr>
          <p:nvPr/>
        </p:nvSpPr>
        <p:spPr>
          <a:xfrm>
            <a:off x="0" y="0"/>
            <a:ext cx="12192000" cy="914400"/>
          </a:xfrm>
          <a:prstGeom prst="rect">
            <a:avLst/>
          </a:prstGeom>
          <a:solidFill>
            <a:srgbClr val="102A43"/>
          </a:solidFill>
        </p:spPr>
        <p:txBody>
          <a:bodyPr vert="horz" wrap="square" rtlCol="0" anchor="ctr">
            <a:normAutofit/>
          </a:bodyPr>
          <a:lstStyle/>
          <a:p>
            <a:r>
              <a:rPr lang="en-US" sz="2800" b="1" dirty="0">
                <a:solidFill>
                  <a:srgbClr val="FFFFFF"/>
                </a:solidFill>
                <a:latin typeface="Trebuchet MS"/>
              </a:rPr>
              <a:t>Stage 3 · Empower &amp; Achieve</a:t>
            </a:r>
          </a:p>
        </p:txBody>
      </p:sp>
      <p:graphicFrame>
        <p:nvGraphicFramePr>
          <p:cNvPr id="4" name="Table 1"/>
          <p:cNvGraphicFramePr>
            <a:graphicFrameLocks noGrp="1"/>
          </p:cNvGraphicFramePr>
          <p:nvPr/>
        </p:nvGraphicFramePr>
        <p:xfrm>
          <a:off x="457200" y="1143000"/>
          <a:ext cx="11277601" cy="2411730"/>
        </p:xfrm>
        <a:graphic>
          <a:graphicData uri="http://schemas.openxmlformats.org/drawingml/2006/table">
            <a:tbl>
              <a:tblPr firstRow="1" bandRow="1"/>
              <a:tblGrid>
                <a:gridCol w="2033666">
                  <a:extLst>
                    <a:ext uri="{9D8B030D-6E8A-4147-A177-3AD203B41FA5}">
                      <a16:colId xmlns:a16="http://schemas.microsoft.com/office/drawing/2014/main" val="20000"/>
                    </a:ext>
                  </a:extLst>
                </a:gridCol>
                <a:gridCol w="5546361">
                  <a:extLst>
                    <a:ext uri="{9D8B030D-6E8A-4147-A177-3AD203B41FA5}">
                      <a16:colId xmlns:a16="http://schemas.microsoft.com/office/drawing/2014/main" val="20001"/>
                    </a:ext>
                  </a:extLst>
                </a:gridCol>
                <a:gridCol w="3697574">
                  <a:extLst>
                    <a:ext uri="{9D8B030D-6E8A-4147-A177-3AD203B41FA5}">
                      <a16:colId xmlns:a16="http://schemas.microsoft.com/office/drawing/2014/main" val="20002"/>
                    </a:ext>
                  </a:extLst>
                </a:gridCol>
              </a:tblGrid>
              <a:tr h="457200">
                <a:tc>
                  <a:txBody>
                    <a:bodyPr/>
                    <a:lstStyle/>
                    <a:p>
                      <a:r>
                        <a:rPr lang="en-US" sz="1200" b="1" dirty="0">
                          <a:solidFill>
                            <a:srgbClr val="FFFFFF"/>
                          </a:solidFill>
                          <a:latin typeface="Trebuchet MS"/>
                        </a:rPr>
                        <a:t>Gate element</a:t>
                      </a:r>
                    </a:p>
                  </a:txBody>
                  <a:tcPr anchor="ctr">
                    <a:solidFill>
                      <a:srgbClr val="2A446F"/>
                    </a:solidFill>
                  </a:tcPr>
                </a:tc>
                <a:tc>
                  <a:txBody>
                    <a:bodyPr/>
                    <a:lstStyle/>
                    <a:p>
                      <a:r>
                        <a:rPr lang="en-US" sz="1200" b="1" dirty="0">
                          <a:solidFill>
                            <a:srgbClr val="FFFFFF"/>
                          </a:solidFill>
                          <a:latin typeface="Trebuchet MS"/>
                        </a:rPr>
                        <a:t>What must be true</a:t>
                      </a:r>
                    </a:p>
                  </a:txBody>
                  <a:tcPr anchor="ctr">
                    <a:solidFill>
                      <a:srgbClr val="2A446F"/>
                    </a:solidFill>
                  </a:tcPr>
                </a:tc>
                <a:tc>
                  <a:txBody>
                    <a:bodyPr/>
                    <a:lstStyle/>
                    <a:p>
                      <a:r>
                        <a:rPr lang="en-US" sz="1200" b="1" dirty="0">
                          <a:solidFill>
                            <a:srgbClr val="FFFFFF"/>
                          </a:solidFill>
                          <a:latin typeface="Trebuchet MS"/>
                        </a:rPr>
                        <a:t>Primary roles</a:t>
                      </a:r>
                    </a:p>
                  </a:txBody>
                  <a:tcPr anchor="ctr">
                    <a:solidFill>
                      <a:srgbClr val="2A446F"/>
                    </a:solidFill>
                  </a:tcPr>
                </a:tc>
                <a:extLst>
                  <a:ext uri="{0D108BD9-81ED-4DB2-BD59-A6C34878D82A}">
                    <a16:rowId xmlns:a16="http://schemas.microsoft.com/office/drawing/2014/main" val="10000"/>
                  </a:ext>
                </a:extLst>
              </a:tr>
              <a:tr h="400050">
                <a:tc>
                  <a:txBody>
                    <a:bodyPr/>
                    <a:lstStyle/>
                    <a:p>
                      <a:r>
                        <a:rPr lang="en-US" sz="1200" dirty="0">
                          <a:solidFill>
                            <a:srgbClr val="172B4D"/>
                          </a:solidFill>
                          <a:latin typeface="Calibri"/>
                        </a:rPr>
                        <a:t>Objective</a:t>
                      </a:r>
                    </a:p>
                  </a:txBody>
                  <a:tcPr anchor="ctr">
                    <a:solidFill>
                      <a:srgbClr val="F7F9FC"/>
                    </a:solidFill>
                  </a:tcPr>
                </a:tc>
                <a:tc>
                  <a:txBody>
                    <a:bodyPr/>
                    <a:lstStyle/>
                    <a:p>
                      <a:r>
                        <a:rPr lang="en-US" sz="1200" dirty="0">
                          <a:solidFill>
                            <a:srgbClr val="172B4D"/>
                          </a:solidFill>
                          <a:latin typeface="Calibri"/>
                        </a:rPr>
                        <a:t>Win business and technical decisions, secure commitment, and prepare a clean delivery transition.</a:t>
                      </a:r>
                    </a:p>
                  </a:txBody>
                  <a:tcPr anchor="ctr">
                    <a:solidFill>
                      <a:srgbClr val="F7F9FC"/>
                    </a:solidFill>
                  </a:tcPr>
                </a:tc>
                <a:tc>
                  <a:txBody>
                    <a:bodyPr/>
                    <a:lstStyle/>
                    <a:p>
                      <a:r>
                        <a:rPr lang="en-US" sz="1200" dirty="0">
                          <a:solidFill>
                            <a:srgbClr val="172B4D"/>
                          </a:solidFill>
                          <a:latin typeface="Calibri"/>
                        </a:rPr>
                        <a:t>STU-led: SSP/DSS and SE/DSE</a:t>
                      </a:r>
                    </a:p>
                  </a:txBody>
                  <a:tcPr anchor="ctr">
                    <a:solidFill>
                      <a:srgbClr val="F7F9FC"/>
                    </a:solidFill>
                  </a:tcPr>
                </a:tc>
                <a:extLst>
                  <a:ext uri="{0D108BD9-81ED-4DB2-BD59-A6C34878D82A}">
                    <a16:rowId xmlns:a16="http://schemas.microsoft.com/office/drawing/2014/main" val="10001"/>
                  </a:ext>
                </a:extLst>
              </a:tr>
              <a:tr h="400050">
                <a:tc>
                  <a:txBody>
                    <a:bodyPr/>
                    <a:lstStyle/>
                    <a:p>
                      <a:r>
                        <a:rPr lang="en-US" sz="1200" dirty="0">
                          <a:solidFill>
                            <a:srgbClr val="172B4D"/>
                          </a:solidFill>
                          <a:latin typeface="Calibri"/>
                        </a:rPr>
                        <a:t>Required evidence</a:t>
                      </a:r>
                    </a:p>
                  </a:txBody>
                  <a:tcPr anchor="ctr">
                    <a:solidFill>
                      <a:srgbClr val="FFFFFF"/>
                    </a:solidFill>
                  </a:tcPr>
                </a:tc>
                <a:tc>
                  <a:txBody>
                    <a:bodyPr/>
                    <a:lstStyle/>
                    <a:p>
                      <a:r>
                        <a:rPr lang="en-US" sz="1200" dirty="0">
                          <a:solidFill>
                            <a:srgbClr val="172B4D"/>
                          </a:solidFill>
                          <a:latin typeface="Calibri"/>
                        </a:rPr>
                        <a:t>Business case/proposal aligned; technical decision won via MVP, PoC, pilot, or close plan; terms agreed; plans finalized; delivery ownership accepted.</a:t>
                      </a:r>
                    </a:p>
                  </a:txBody>
                  <a:tcPr anchor="ctr">
                    <a:solidFill>
                      <a:srgbClr val="FFFFFF"/>
                    </a:solidFill>
                  </a:tcPr>
                </a:tc>
                <a:tc>
                  <a:txBody>
                    <a:bodyPr/>
                    <a:lstStyle/>
                    <a:p>
                      <a:r>
                        <a:rPr lang="en-US" sz="1200" dirty="0">
                          <a:solidFill>
                            <a:srgbClr val="172B4D"/>
                          </a:solidFill>
                          <a:latin typeface="Calibri"/>
                        </a:rPr>
                        <a:t>ATU AE/DAE and CE; CSU Lead/CSAM/CSA; Services and Partners</a:t>
                      </a:r>
                    </a:p>
                  </a:txBody>
                  <a:tcPr anchor="ctr">
                    <a:solidFill>
                      <a:srgbClr val="FFFFFF"/>
                    </a:solidFill>
                  </a:tcPr>
                </a:tc>
                <a:extLst>
                  <a:ext uri="{0D108BD9-81ED-4DB2-BD59-A6C34878D82A}">
                    <a16:rowId xmlns:a16="http://schemas.microsoft.com/office/drawing/2014/main" val="10002"/>
                  </a:ext>
                </a:extLst>
              </a:tr>
              <a:tr h="400050">
                <a:tc>
                  <a:txBody>
                    <a:bodyPr/>
                    <a:lstStyle/>
                    <a:p>
                      <a:r>
                        <a:rPr lang="en-US" sz="1200" dirty="0">
                          <a:solidFill>
                            <a:srgbClr val="172B4D"/>
                          </a:solidFill>
                          <a:latin typeface="Calibri"/>
                        </a:rPr>
                        <a:t>Official exit criterion</a:t>
                      </a:r>
                    </a:p>
                  </a:txBody>
                  <a:tcPr anchor="ctr">
                    <a:solidFill>
                      <a:srgbClr val="F7F9FC"/>
                    </a:solidFill>
                  </a:tcPr>
                </a:tc>
                <a:tc>
                  <a:txBody>
                    <a:bodyPr/>
                    <a:lstStyle/>
                    <a:p>
                      <a:r>
                        <a:rPr lang="en-US" sz="1200" dirty="0">
                          <a:solidFill>
                            <a:srgbClr val="172B4D"/>
                          </a:solidFill>
                          <a:latin typeface="Calibri"/>
                        </a:rPr>
                        <a:t>Customer Agreement and Committed Pipe secured.</a:t>
                      </a:r>
                    </a:p>
                  </a:txBody>
                  <a:tcPr anchor="ctr">
                    <a:solidFill>
                      <a:srgbClr val="F7F9FC"/>
                    </a:solidFill>
                  </a:tcPr>
                </a:tc>
                <a:tc>
                  <a:txBody>
                    <a:bodyPr/>
                    <a:lstStyle/>
                    <a:p>
                      <a:r>
                        <a:rPr lang="en-US" sz="1200" dirty="0">
                          <a:solidFill>
                            <a:srgbClr val="172B4D"/>
                          </a:solidFill>
                          <a:latin typeface="Calibri"/>
                        </a:rPr>
                        <a:t>STU accountable</a:t>
                      </a:r>
                    </a:p>
                  </a:txBody>
                  <a:tcPr anchor="ctr">
                    <a:solidFill>
                      <a:srgbClr val="F7F9FC"/>
                    </a:solidFill>
                  </a:tcPr>
                </a:tc>
                <a:extLst>
                  <a:ext uri="{0D108BD9-81ED-4DB2-BD59-A6C34878D82A}">
                    <a16:rowId xmlns:a16="http://schemas.microsoft.com/office/drawing/2014/main" val="10003"/>
                  </a:ext>
                </a:extLst>
              </a:tr>
              <a:tr h="400050">
                <a:tc>
                  <a:txBody>
                    <a:bodyPr/>
                    <a:lstStyle/>
                    <a:p>
                      <a:r>
                        <a:rPr lang="en-US" sz="1200" dirty="0">
                          <a:solidFill>
                            <a:srgbClr val="172B4D"/>
                          </a:solidFill>
                          <a:latin typeface="Calibri"/>
                        </a:rPr>
                        <a:t>Decision</a:t>
                      </a:r>
                    </a:p>
                  </a:txBody>
                  <a:tcPr anchor="ctr">
                    <a:solidFill>
                      <a:srgbClr val="FFFFFF"/>
                    </a:solidFill>
                  </a:tcPr>
                </a:tc>
                <a:tc>
                  <a:txBody>
                    <a:bodyPr/>
                    <a:lstStyle/>
                    <a:p>
                      <a:r>
                        <a:rPr lang="en-US" sz="1200" dirty="0">
                          <a:solidFill>
                            <a:srgbClr val="172B4D"/>
                          </a:solidFill>
                          <a:latin typeface="Calibri"/>
                        </a:rPr>
                        <a:t>ADVANCE only with agreement, committed pipeline, and accepted handoff. HOLD while proof, terms, approvals, or owners remain open. RECYCLE to Stage 2 if scope or architecture changes.</a:t>
                      </a:r>
                    </a:p>
                  </a:txBody>
                  <a:tcPr anchor="ctr">
                    <a:solidFill>
                      <a:srgbClr val="FFFFFF"/>
                    </a:solidFill>
                  </a:tcPr>
                </a:tc>
                <a:tc>
                  <a:txBody>
                    <a:bodyPr/>
                    <a:lstStyle/>
                    <a:p>
                      <a:r>
                        <a:rPr lang="en-US" sz="1200" dirty="0">
                          <a:solidFill>
                            <a:srgbClr val="172B4D"/>
                          </a:solidFill>
                          <a:latin typeface="Calibri"/>
                        </a:rPr>
                        <a:t>Sponsor, BDM/TDM, procurement, and delivery owner confirm</a:t>
                      </a:r>
                    </a:p>
                  </a:txBody>
                  <a:tcPr anchor="ctr">
                    <a:solidFill>
                      <a:srgbClr val="FFFFFF"/>
                    </a:solidFill>
                  </a:tcPr>
                </a:tc>
                <a:extLst>
                  <a:ext uri="{0D108BD9-81ED-4DB2-BD59-A6C34878D82A}">
                    <a16:rowId xmlns:a16="http://schemas.microsoft.com/office/drawing/2014/main" val="10004"/>
                  </a:ext>
                </a:extLst>
              </a:tr>
            </a:tbl>
          </a:graphicData>
        </a:graphic>
      </p:graphicFrame>
      <p:sp>
        <p:nvSpPr>
          <p:cNvPr id="5" name="Source Note"/>
          <p:cNvSpPr/>
          <p:nvPr/>
        </p:nvSpPr>
        <p:spPr>
          <a:xfrm>
            <a:off x="457200" y="3314700"/>
            <a:ext cx="11277600" cy="285750"/>
          </a:xfrm>
          <a:prstGeom prst="rect">
            <a:avLst/>
          </a:prstGeom>
          <a:noFill/>
        </p:spPr>
        <p:txBody>
          <a:bodyPr vert="horz" wrap="square" rtlCol="0" anchor="t">
            <a:normAutofit/>
          </a:bodyPr>
          <a:lstStyle/>
          <a:p>
            <a:r>
              <a:rPr lang="en-US" sz="1000" i="1" dirty="0">
                <a:solidFill>
                  <a:srgbClr val="52616B"/>
                </a:solidFill>
                <a:latin typeface="Calibri"/>
              </a:rPr>
              <a:t>FY27 MCEM Summary of Changes; FY27 Enterprise and SME&amp;C orchestration guides</a:t>
            </a:r>
          </a:p>
        </p:txBody>
      </p:sp>
      <p:sp>
        <p:nvSpPr>
          <p:cNvPr id="100" name="Running Footer"/>
          <p:cNvSpPr>
            <a:spLocks noGrp="1"/>
          </p:cNvSpPr>
          <p:nvPr/>
        </p:nvSpPr>
        <p:spPr>
          <a:xfrm>
            <a:off x="457200" y="6492240"/>
            <a:ext cx="10180320" cy="274320"/>
          </a:xfrm>
          <a:prstGeom prst="rect">
            <a:avLst/>
          </a:prstGeom>
          <a:noFill/>
        </p:spPr>
        <p:txBody>
          <a:bodyPr vert="horz" wrap="square" rtlCol="0" anchor="ctr">
            <a:normAutofit/>
          </a:bodyPr>
          <a:lstStyle/>
          <a:p>
            <a:pPr algn="l"/>
            <a:r>
              <a:rPr lang="en-US" sz="1000" dirty="0">
                <a:solidFill>
                  <a:srgbClr val="52616B"/>
                </a:solidFill>
                <a:latin typeface="Calibri"/>
              </a:rPr>
              <a:t>FY27 MCEM · Stage Gates &amp; Roles</a:t>
            </a:r>
          </a:p>
        </p:txBody>
      </p:sp>
      <p:sp>
        <p:nvSpPr>
          <p:cNvPr id="101" name="Running Footer Page Number"/>
          <p:cNvSpPr>
            <a:spLocks noGrp="1"/>
          </p:cNvSpPr>
          <p:nvPr/>
        </p:nvSpPr>
        <p:spPr>
          <a:xfrm>
            <a:off x="10637520" y="6492240"/>
            <a:ext cx="1097280" cy="274320"/>
          </a:xfrm>
          <a:prstGeom prst="rect">
            <a:avLst/>
          </a:prstGeom>
          <a:noFill/>
        </p:spPr>
        <p:txBody>
          <a:bodyPr vert="horz" wrap="square" rtlCol="0" anchor="ctr">
            <a:normAutofit/>
          </a:bodyPr>
          <a:lstStyle/>
          <a:p>
            <a:pPr algn="r"/>
            <a:r>
              <a:rPr lang="en-US" sz="1000" dirty="0">
                <a:solidFill>
                  <a:srgbClr val="52616B"/>
                </a:solidFill>
                <a:latin typeface="Calibri"/>
              </a:rPr>
              <a:t>4</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99" name="Accent Bar"/>
          <p:cNvSpPr>
            <a:spLocks noGrp="1"/>
          </p:cNvSpPr>
          <p:nvPr/>
        </p:nvSpPr>
        <p:spPr>
          <a:xfrm>
            <a:off x="0" y="0"/>
            <a:ext cx="12192000" cy="73152"/>
          </a:xfrm>
          <a:prstGeom prst="rect">
            <a:avLst/>
          </a:prstGeom>
          <a:solidFill>
            <a:srgbClr val="2A446F"/>
          </a:solidFill>
        </p:spPr>
        <p:txBody>
          <a:bodyPr/>
          <a:lstStyle/>
          <a:p>
            <a:endParaRPr/>
          </a:p>
        </p:txBody>
      </p:sp>
      <p:sp>
        <p:nvSpPr>
          <p:cNvPr id="2" name="Title Bar"/>
          <p:cNvSpPr>
            <a:spLocks noGrp="1"/>
          </p:cNvSpPr>
          <p:nvPr/>
        </p:nvSpPr>
        <p:spPr>
          <a:xfrm>
            <a:off x="0" y="0"/>
            <a:ext cx="12192000" cy="914400"/>
          </a:xfrm>
          <a:prstGeom prst="rect">
            <a:avLst/>
          </a:prstGeom>
          <a:solidFill>
            <a:srgbClr val="102A43"/>
          </a:solidFill>
        </p:spPr>
        <p:txBody>
          <a:bodyPr vert="horz" wrap="square" rtlCol="0" anchor="ctr">
            <a:normAutofit/>
          </a:bodyPr>
          <a:lstStyle/>
          <a:p>
            <a:r>
              <a:rPr lang="en-US" sz="2800" b="1" dirty="0">
                <a:solidFill>
                  <a:srgbClr val="FFFFFF"/>
                </a:solidFill>
                <a:latin typeface="Trebuchet MS"/>
              </a:rPr>
              <a:t>Stage 4 · Realize Value</a:t>
            </a:r>
          </a:p>
        </p:txBody>
      </p:sp>
      <p:graphicFrame>
        <p:nvGraphicFramePr>
          <p:cNvPr id="4" name="Table 1"/>
          <p:cNvGraphicFramePr>
            <a:graphicFrameLocks noGrp="1"/>
          </p:cNvGraphicFramePr>
          <p:nvPr/>
        </p:nvGraphicFramePr>
        <p:xfrm>
          <a:off x="457200" y="1143000"/>
          <a:ext cx="11277601" cy="2411730"/>
        </p:xfrm>
        <a:graphic>
          <a:graphicData uri="http://schemas.openxmlformats.org/drawingml/2006/table">
            <a:tbl>
              <a:tblPr firstRow="1" bandRow="1"/>
              <a:tblGrid>
                <a:gridCol w="2033666">
                  <a:extLst>
                    <a:ext uri="{9D8B030D-6E8A-4147-A177-3AD203B41FA5}">
                      <a16:colId xmlns:a16="http://schemas.microsoft.com/office/drawing/2014/main" val="20000"/>
                    </a:ext>
                  </a:extLst>
                </a:gridCol>
                <a:gridCol w="5546361">
                  <a:extLst>
                    <a:ext uri="{9D8B030D-6E8A-4147-A177-3AD203B41FA5}">
                      <a16:colId xmlns:a16="http://schemas.microsoft.com/office/drawing/2014/main" val="20001"/>
                    </a:ext>
                  </a:extLst>
                </a:gridCol>
                <a:gridCol w="3697574">
                  <a:extLst>
                    <a:ext uri="{9D8B030D-6E8A-4147-A177-3AD203B41FA5}">
                      <a16:colId xmlns:a16="http://schemas.microsoft.com/office/drawing/2014/main" val="20002"/>
                    </a:ext>
                  </a:extLst>
                </a:gridCol>
              </a:tblGrid>
              <a:tr h="457200">
                <a:tc>
                  <a:txBody>
                    <a:bodyPr/>
                    <a:lstStyle/>
                    <a:p>
                      <a:r>
                        <a:rPr lang="en-US" sz="1200" b="1" dirty="0">
                          <a:solidFill>
                            <a:srgbClr val="FFFFFF"/>
                          </a:solidFill>
                          <a:latin typeface="Trebuchet MS"/>
                        </a:rPr>
                        <a:t>Gate element</a:t>
                      </a:r>
                    </a:p>
                  </a:txBody>
                  <a:tcPr anchor="ctr">
                    <a:solidFill>
                      <a:srgbClr val="2A446F"/>
                    </a:solidFill>
                  </a:tcPr>
                </a:tc>
                <a:tc>
                  <a:txBody>
                    <a:bodyPr/>
                    <a:lstStyle/>
                    <a:p>
                      <a:r>
                        <a:rPr lang="en-US" sz="1200" b="1" dirty="0">
                          <a:solidFill>
                            <a:srgbClr val="FFFFFF"/>
                          </a:solidFill>
                          <a:latin typeface="Trebuchet MS"/>
                        </a:rPr>
                        <a:t>What must be true</a:t>
                      </a:r>
                    </a:p>
                  </a:txBody>
                  <a:tcPr anchor="ctr">
                    <a:solidFill>
                      <a:srgbClr val="2A446F"/>
                    </a:solidFill>
                  </a:tcPr>
                </a:tc>
                <a:tc>
                  <a:txBody>
                    <a:bodyPr/>
                    <a:lstStyle/>
                    <a:p>
                      <a:r>
                        <a:rPr lang="en-US" sz="1200" b="1" dirty="0">
                          <a:solidFill>
                            <a:srgbClr val="FFFFFF"/>
                          </a:solidFill>
                          <a:latin typeface="Trebuchet MS"/>
                        </a:rPr>
                        <a:t>Primary roles</a:t>
                      </a:r>
                    </a:p>
                  </a:txBody>
                  <a:tcPr anchor="ctr">
                    <a:solidFill>
                      <a:srgbClr val="2A446F"/>
                    </a:solidFill>
                  </a:tcPr>
                </a:tc>
                <a:extLst>
                  <a:ext uri="{0D108BD9-81ED-4DB2-BD59-A6C34878D82A}">
                    <a16:rowId xmlns:a16="http://schemas.microsoft.com/office/drawing/2014/main" val="10000"/>
                  </a:ext>
                </a:extLst>
              </a:tr>
              <a:tr h="400050">
                <a:tc>
                  <a:txBody>
                    <a:bodyPr/>
                    <a:lstStyle/>
                    <a:p>
                      <a:r>
                        <a:rPr lang="en-US" sz="1200" dirty="0">
                          <a:solidFill>
                            <a:srgbClr val="172B4D"/>
                          </a:solidFill>
                          <a:latin typeface="Calibri"/>
                        </a:rPr>
                        <a:t>Objective</a:t>
                      </a:r>
                    </a:p>
                  </a:txBody>
                  <a:tcPr anchor="ctr">
                    <a:solidFill>
                      <a:srgbClr val="F7F9FC"/>
                    </a:solidFill>
                  </a:tcPr>
                </a:tc>
                <a:tc>
                  <a:txBody>
                    <a:bodyPr/>
                    <a:lstStyle/>
                    <a:p>
                      <a:r>
                        <a:rPr lang="en-US" sz="1200" dirty="0">
                          <a:solidFill>
                            <a:srgbClr val="172B4D"/>
                          </a:solidFill>
                          <a:latin typeface="Calibri"/>
                        </a:rPr>
                        <a:t>Deliver, accelerate adoption and consumption, complete milestones, and demonstrate business value.</a:t>
                      </a:r>
                    </a:p>
                  </a:txBody>
                  <a:tcPr anchor="ctr">
                    <a:solidFill>
                      <a:srgbClr val="F7F9FC"/>
                    </a:solidFill>
                  </a:tcPr>
                </a:tc>
                <a:tc>
                  <a:txBody>
                    <a:bodyPr/>
                    <a:lstStyle/>
                    <a:p>
                      <a:r>
                        <a:rPr lang="en-US" sz="1200" dirty="0">
                          <a:solidFill>
                            <a:srgbClr val="172B4D"/>
                          </a:solidFill>
                          <a:latin typeface="Calibri"/>
                        </a:rPr>
                        <a:t>CSU/Partner-led: CSAM, CSA, ISD, CAF/FDE, delivery Partner</a:t>
                      </a:r>
                    </a:p>
                  </a:txBody>
                  <a:tcPr anchor="ctr">
                    <a:solidFill>
                      <a:srgbClr val="F7F9FC"/>
                    </a:solidFill>
                  </a:tcPr>
                </a:tc>
                <a:extLst>
                  <a:ext uri="{0D108BD9-81ED-4DB2-BD59-A6C34878D82A}">
                    <a16:rowId xmlns:a16="http://schemas.microsoft.com/office/drawing/2014/main" val="10001"/>
                  </a:ext>
                </a:extLst>
              </a:tr>
              <a:tr h="400050">
                <a:tc>
                  <a:txBody>
                    <a:bodyPr/>
                    <a:lstStyle/>
                    <a:p>
                      <a:r>
                        <a:rPr lang="en-US" sz="1200" dirty="0">
                          <a:solidFill>
                            <a:srgbClr val="172B4D"/>
                          </a:solidFill>
                          <a:latin typeface="Calibri"/>
                        </a:rPr>
                        <a:t>Required evidence</a:t>
                      </a:r>
                    </a:p>
                  </a:txBody>
                  <a:tcPr anchor="ctr">
                    <a:solidFill>
                      <a:srgbClr val="FFFFFF"/>
                    </a:solidFill>
                  </a:tcPr>
                </a:tc>
                <a:tc>
                  <a:txBody>
                    <a:bodyPr/>
                    <a:lstStyle/>
                    <a:p>
                      <a:r>
                        <a:rPr lang="en-US" sz="1200" dirty="0">
                          <a:solidFill>
                            <a:srgbClr val="172B4D"/>
                          </a:solidFill>
                          <a:latin typeface="Calibri"/>
                        </a:rPr>
                        <a:t>Production and delivery are on track; Customer Success Plan governs work; usage, adoption, health, milestones, and value measures demonstrate scale.</a:t>
                      </a:r>
                    </a:p>
                  </a:txBody>
                  <a:tcPr anchor="ctr">
                    <a:solidFill>
                      <a:srgbClr val="FFFFFF"/>
                    </a:solidFill>
                  </a:tcPr>
                </a:tc>
                <a:tc>
                  <a:txBody>
                    <a:bodyPr/>
                    <a:lstStyle/>
                    <a:p>
                      <a:r>
                        <a:rPr lang="en-US" sz="1200" dirty="0">
                          <a:solidFill>
                            <a:srgbClr val="172B4D"/>
                          </a:solidFill>
                          <a:latin typeface="Calibri"/>
                        </a:rPr>
                        <a:t>ATU oversees outcome alignment; STU/SE re-engages for blockers</a:t>
                      </a:r>
                    </a:p>
                  </a:txBody>
                  <a:tcPr anchor="ctr">
                    <a:solidFill>
                      <a:srgbClr val="FFFFFF"/>
                    </a:solidFill>
                  </a:tcPr>
                </a:tc>
                <a:extLst>
                  <a:ext uri="{0D108BD9-81ED-4DB2-BD59-A6C34878D82A}">
                    <a16:rowId xmlns:a16="http://schemas.microsoft.com/office/drawing/2014/main" val="10002"/>
                  </a:ext>
                </a:extLst>
              </a:tr>
              <a:tr h="400050">
                <a:tc>
                  <a:txBody>
                    <a:bodyPr/>
                    <a:lstStyle/>
                    <a:p>
                      <a:r>
                        <a:rPr lang="en-US" sz="1200" dirty="0">
                          <a:solidFill>
                            <a:srgbClr val="172B4D"/>
                          </a:solidFill>
                          <a:latin typeface="Calibri"/>
                        </a:rPr>
                        <a:t>Official exit criterion</a:t>
                      </a:r>
                    </a:p>
                  </a:txBody>
                  <a:tcPr anchor="ctr">
                    <a:solidFill>
                      <a:srgbClr val="F7F9FC"/>
                    </a:solidFill>
                  </a:tcPr>
                </a:tc>
                <a:tc>
                  <a:txBody>
                    <a:bodyPr/>
                    <a:lstStyle/>
                    <a:p>
                      <a:r>
                        <a:rPr lang="en-US" sz="1200" dirty="0">
                          <a:solidFill>
                            <a:srgbClr val="172B4D"/>
                          </a:solidFill>
                          <a:latin typeface="Calibri"/>
                        </a:rPr>
                        <a:t>Accelerated scale and business value delivery.</a:t>
                      </a:r>
                    </a:p>
                  </a:txBody>
                  <a:tcPr anchor="ctr">
                    <a:solidFill>
                      <a:srgbClr val="F7F9FC"/>
                    </a:solidFill>
                  </a:tcPr>
                </a:tc>
                <a:tc>
                  <a:txBody>
                    <a:bodyPr/>
                    <a:lstStyle/>
                    <a:p>
                      <a:r>
                        <a:rPr lang="en-US" sz="1200" dirty="0">
                          <a:solidFill>
                            <a:srgbClr val="172B4D"/>
                          </a:solidFill>
                          <a:latin typeface="Calibri"/>
                        </a:rPr>
                        <a:t>CSU/Partner accountable</a:t>
                      </a:r>
                    </a:p>
                  </a:txBody>
                  <a:tcPr anchor="ctr">
                    <a:solidFill>
                      <a:srgbClr val="F7F9FC"/>
                    </a:solidFill>
                  </a:tcPr>
                </a:tc>
                <a:extLst>
                  <a:ext uri="{0D108BD9-81ED-4DB2-BD59-A6C34878D82A}">
                    <a16:rowId xmlns:a16="http://schemas.microsoft.com/office/drawing/2014/main" val="10003"/>
                  </a:ext>
                </a:extLst>
              </a:tr>
              <a:tr h="400050">
                <a:tc>
                  <a:txBody>
                    <a:bodyPr/>
                    <a:lstStyle/>
                    <a:p>
                      <a:r>
                        <a:rPr lang="en-US" sz="1200" dirty="0">
                          <a:solidFill>
                            <a:srgbClr val="172B4D"/>
                          </a:solidFill>
                          <a:latin typeface="Calibri"/>
                        </a:rPr>
                        <a:t>Decision</a:t>
                      </a:r>
                    </a:p>
                  </a:txBody>
                  <a:tcPr anchor="ctr">
                    <a:solidFill>
                      <a:srgbClr val="FFFFFF"/>
                    </a:solidFill>
                  </a:tcPr>
                </a:tc>
                <a:tc>
                  <a:txBody>
                    <a:bodyPr/>
                    <a:lstStyle/>
                    <a:p>
                      <a:r>
                        <a:rPr lang="en-US" sz="1200" dirty="0">
                          <a:solidFill>
                            <a:srgbClr val="172B4D"/>
                          </a:solidFill>
                          <a:latin typeface="Calibri"/>
                        </a:rPr>
                        <a:t>ADVANCE when scale and value are evidenced and sustainable. HOLD for adoption, health, or milestone gaps. RECYCLE to Stage 3 if commitment, scope, funding, or ownership must reset.</a:t>
                      </a:r>
                    </a:p>
                  </a:txBody>
                  <a:tcPr anchor="ctr">
                    <a:solidFill>
                      <a:srgbClr val="FFFFFF"/>
                    </a:solidFill>
                  </a:tcPr>
                </a:tc>
                <a:tc>
                  <a:txBody>
                    <a:bodyPr/>
                    <a:lstStyle/>
                    <a:p>
                      <a:r>
                        <a:rPr lang="en-US" sz="1200" dirty="0">
                          <a:solidFill>
                            <a:srgbClr val="172B4D"/>
                          </a:solidFill>
                          <a:latin typeface="Calibri"/>
                        </a:rPr>
                        <a:t>Customer delivery owner and business sponsor validate</a:t>
                      </a:r>
                    </a:p>
                  </a:txBody>
                  <a:tcPr anchor="ctr">
                    <a:solidFill>
                      <a:srgbClr val="FFFFFF"/>
                    </a:solidFill>
                  </a:tcPr>
                </a:tc>
                <a:extLst>
                  <a:ext uri="{0D108BD9-81ED-4DB2-BD59-A6C34878D82A}">
                    <a16:rowId xmlns:a16="http://schemas.microsoft.com/office/drawing/2014/main" val="10004"/>
                  </a:ext>
                </a:extLst>
              </a:tr>
            </a:tbl>
          </a:graphicData>
        </a:graphic>
      </p:graphicFrame>
      <p:sp>
        <p:nvSpPr>
          <p:cNvPr id="5" name="Source Note"/>
          <p:cNvSpPr/>
          <p:nvPr/>
        </p:nvSpPr>
        <p:spPr>
          <a:xfrm>
            <a:off x="457200" y="3314700"/>
            <a:ext cx="11277600" cy="285750"/>
          </a:xfrm>
          <a:prstGeom prst="rect">
            <a:avLst/>
          </a:prstGeom>
          <a:noFill/>
        </p:spPr>
        <p:txBody>
          <a:bodyPr vert="horz" wrap="square" rtlCol="0" anchor="t">
            <a:normAutofit/>
          </a:bodyPr>
          <a:lstStyle/>
          <a:p>
            <a:r>
              <a:rPr lang="en-US" sz="1000" i="1" dirty="0">
                <a:solidFill>
                  <a:srgbClr val="52616B"/>
                </a:solidFill>
                <a:latin typeface="Calibri"/>
              </a:rPr>
              <a:t>FY27 MCEM Summary of Changes; FY27 Enterprise and SME&amp;C orchestration guides</a:t>
            </a:r>
          </a:p>
        </p:txBody>
      </p:sp>
      <p:sp>
        <p:nvSpPr>
          <p:cNvPr id="100" name="Running Footer"/>
          <p:cNvSpPr>
            <a:spLocks noGrp="1"/>
          </p:cNvSpPr>
          <p:nvPr/>
        </p:nvSpPr>
        <p:spPr>
          <a:xfrm>
            <a:off x="457200" y="6492240"/>
            <a:ext cx="10180320" cy="274320"/>
          </a:xfrm>
          <a:prstGeom prst="rect">
            <a:avLst/>
          </a:prstGeom>
          <a:noFill/>
        </p:spPr>
        <p:txBody>
          <a:bodyPr vert="horz" wrap="square" rtlCol="0" anchor="ctr">
            <a:normAutofit/>
          </a:bodyPr>
          <a:lstStyle/>
          <a:p>
            <a:pPr algn="l"/>
            <a:r>
              <a:rPr lang="en-US" sz="1000" dirty="0">
                <a:solidFill>
                  <a:srgbClr val="52616B"/>
                </a:solidFill>
                <a:latin typeface="Calibri"/>
              </a:rPr>
              <a:t>FY27 MCEM · Stage Gates &amp; Roles</a:t>
            </a:r>
          </a:p>
        </p:txBody>
      </p:sp>
      <p:sp>
        <p:nvSpPr>
          <p:cNvPr id="101" name="Running Footer Page Number"/>
          <p:cNvSpPr>
            <a:spLocks noGrp="1"/>
          </p:cNvSpPr>
          <p:nvPr/>
        </p:nvSpPr>
        <p:spPr>
          <a:xfrm>
            <a:off x="10637520" y="6492240"/>
            <a:ext cx="1097280" cy="274320"/>
          </a:xfrm>
          <a:prstGeom prst="rect">
            <a:avLst/>
          </a:prstGeom>
          <a:noFill/>
        </p:spPr>
        <p:txBody>
          <a:bodyPr vert="horz" wrap="square" rtlCol="0" anchor="ctr">
            <a:normAutofit/>
          </a:bodyPr>
          <a:lstStyle/>
          <a:p>
            <a:pPr algn="r"/>
            <a:r>
              <a:rPr lang="en-US" sz="1000" dirty="0">
                <a:solidFill>
                  <a:srgbClr val="52616B"/>
                </a:solidFill>
                <a:latin typeface="Calibri"/>
              </a:rPr>
              <a:t>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99" name="Accent Bar"/>
          <p:cNvSpPr>
            <a:spLocks noGrp="1"/>
          </p:cNvSpPr>
          <p:nvPr/>
        </p:nvSpPr>
        <p:spPr>
          <a:xfrm>
            <a:off x="0" y="0"/>
            <a:ext cx="12192000" cy="73152"/>
          </a:xfrm>
          <a:prstGeom prst="rect">
            <a:avLst/>
          </a:prstGeom>
          <a:solidFill>
            <a:srgbClr val="2A446F"/>
          </a:solidFill>
        </p:spPr>
        <p:txBody>
          <a:bodyPr/>
          <a:lstStyle/>
          <a:p>
            <a:endParaRPr/>
          </a:p>
        </p:txBody>
      </p:sp>
      <p:sp>
        <p:nvSpPr>
          <p:cNvPr id="2" name="Title Bar"/>
          <p:cNvSpPr>
            <a:spLocks noGrp="1"/>
          </p:cNvSpPr>
          <p:nvPr/>
        </p:nvSpPr>
        <p:spPr>
          <a:xfrm>
            <a:off x="0" y="0"/>
            <a:ext cx="12192000" cy="914400"/>
          </a:xfrm>
          <a:prstGeom prst="rect">
            <a:avLst/>
          </a:prstGeom>
          <a:solidFill>
            <a:srgbClr val="102A43"/>
          </a:solidFill>
        </p:spPr>
        <p:txBody>
          <a:bodyPr vert="horz" wrap="square" rtlCol="0" anchor="ctr">
            <a:normAutofit/>
          </a:bodyPr>
          <a:lstStyle/>
          <a:p>
            <a:r>
              <a:rPr lang="en-US" sz="2800" b="1" dirty="0">
                <a:solidFill>
                  <a:srgbClr val="FFFFFF"/>
                </a:solidFill>
                <a:latin typeface="Trebuchet MS"/>
              </a:rPr>
              <a:t>Stage 5 · Manage &amp; Optimize</a:t>
            </a:r>
          </a:p>
        </p:txBody>
      </p:sp>
      <p:graphicFrame>
        <p:nvGraphicFramePr>
          <p:cNvPr id="4" name="Table 1"/>
          <p:cNvGraphicFramePr>
            <a:graphicFrameLocks noGrp="1"/>
          </p:cNvGraphicFramePr>
          <p:nvPr/>
        </p:nvGraphicFramePr>
        <p:xfrm>
          <a:off x="457200" y="1143000"/>
          <a:ext cx="11277601" cy="2411730"/>
        </p:xfrm>
        <a:graphic>
          <a:graphicData uri="http://schemas.openxmlformats.org/drawingml/2006/table">
            <a:tbl>
              <a:tblPr firstRow="1" bandRow="1"/>
              <a:tblGrid>
                <a:gridCol w="2033666">
                  <a:extLst>
                    <a:ext uri="{9D8B030D-6E8A-4147-A177-3AD203B41FA5}">
                      <a16:colId xmlns:a16="http://schemas.microsoft.com/office/drawing/2014/main" val="20000"/>
                    </a:ext>
                  </a:extLst>
                </a:gridCol>
                <a:gridCol w="5546361">
                  <a:extLst>
                    <a:ext uri="{9D8B030D-6E8A-4147-A177-3AD203B41FA5}">
                      <a16:colId xmlns:a16="http://schemas.microsoft.com/office/drawing/2014/main" val="20001"/>
                    </a:ext>
                  </a:extLst>
                </a:gridCol>
                <a:gridCol w="3697574">
                  <a:extLst>
                    <a:ext uri="{9D8B030D-6E8A-4147-A177-3AD203B41FA5}">
                      <a16:colId xmlns:a16="http://schemas.microsoft.com/office/drawing/2014/main" val="20002"/>
                    </a:ext>
                  </a:extLst>
                </a:gridCol>
              </a:tblGrid>
              <a:tr h="457200">
                <a:tc>
                  <a:txBody>
                    <a:bodyPr/>
                    <a:lstStyle/>
                    <a:p>
                      <a:r>
                        <a:rPr lang="en-US" sz="1200" b="1" dirty="0">
                          <a:solidFill>
                            <a:srgbClr val="FFFFFF"/>
                          </a:solidFill>
                          <a:latin typeface="Trebuchet MS"/>
                        </a:rPr>
                        <a:t>Gate element</a:t>
                      </a:r>
                    </a:p>
                  </a:txBody>
                  <a:tcPr anchor="ctr">
                    <a:solidFill>
                      <a:srgbClr val="2A446F"/>
                    </a:solidFill>
                  </a:tcPr>
                </a:tc>
                <a:tc>
                  <a:txBody>
                    <a:bodyPr/>
                    <a:lstStyle/>
                    <a:p>
                      <a:r>
                        <a:rPr lang="en-US" sz="1200" b="1" dirty="0">
                          <a:solidFill>
                            <a:srgbClr val="FFFFFF"/>
                          </a:solidFill>
                          <a:latin typeface="Trebuchet MS"/>
                        </a:rPr>
                        <a:t>What must be true</a:t>
                      </a:r>
                    </a:p>
                  </a:txBody>
                  <a:tcPr anchor="ctr">
                    <a:solidFill>
                      <a:srgbClr val="2A446F"/>
                    </a:solidFill>
                  </a:tcPr>
                </a:tc>
                <a:tc>
                  <a:txBody>
                    <a:bodyPr/>
                    <a:lstStyle/>
                    <a:p>
                      <a:r>
                        <a:rPr lang="en-US" sz="1200" b="1" dirty="0">
                          <a:solidFill>
                            <a:srgbClr val="FFFFFF"/>
                          </a:solidFill>
                          <a:latin typeface="Trebuchet MS"/>
                        </a:rPr>
                        <a:t>Primary roles</a:t>
                      </a:r>
                    </a:p>
                  </a:txBody>
                  <a:tcPr anchor="ctr">
                    <a:solidFill>
                      <a:srgbClr val="2A446F"/>
                    </a:solidFill>
                  </a:tcPr>
                </a:tc>
                <a:extLst>
                  <a:ext uri="{0D108BD9-81ED-4DB2-BD59-A6C34878D82A}">
                    <a16:rowId xmlns:a16="http://schemas.microsoft.com/office/drawing/2014/main" val="10000"/>
                  </a:ext>
                </a:extLst>
              </a:tr>
              <a:tr h="400050">
                <a:tc>
                  <a:txBody>
                    <a:bodyPr/>
                    <a:lstStyle/>
                    <a:p>
                      <a:r>
                        <a:rPr lang="en-US" sz="1200" dirty="0">
                          <a:solidFill>
                            <a:srgbClr val="172B4D"/>
                          </a:solidFill>
                          <a:latin typeface="Calibri"/>
                        </a:rPr>
                        <a:t>Objective</a:t>
                      </a:r>
                    </a:p>
                  </a:txBody>
                  <a:tcPr anchor="ctr">
                    <a:solidFill>
                      <a:srgbClr val="F7F9FC"/>
                    </a:solidFill>
                  </a:tcPr>
                </a:tc>
                <a:tc>
                  <a:txBody>
                    <a:bodyPr/>
                    <a:lstStyle/>
                    <a:p>
                      <a:r>
                        <a:rPr lang="en-US" sz="1200" dirty="0">
                          <a:solidFill>
                            <a:srgbClr val="172B4D"/>
                          </a:solidFill>
                          <a:latin typeface="Calibri"/>
                        </a:rPr>
                        <a:t>Sustain health, optimize performance and adoption, build customer capability, and identify next value.</a:t>
                      </a:r>
                    </a:p>
                  </a:txBody>
                  <a:tcPr anchor="ctr">
                    <a:solidFill>
                      <a:srgbClr val="F7F9FC"/>
                    </a:solidFill>
                  </a:tcPr>
                </a:tc>
                <a:tc>
                  <a:txBody>
                    <a:bodyPr/>
                    <a:lstStyle/>
                    <a:p>
                      <a:r>
                        <a:rPr lang="en-US" sz="1200" dirty="0">
                          <a:solidFill>
                            <a:srgbClr val="172B4D"/>
                          </a:solidFill>
                          <a:latin typeface="Calibri"/>
                        </a:rPr>
                        <a:t>CSU/Partner-led: CSAM, CSA, ISD, delivery Partner</a:t>
                      </a:r>
                    </a:p>
                  </a:txBody>
                  <a:tcPr anchor="ctr">
                    <a:solidFill>
                      <a:srgbClr val="F7F9FC"/>
                    </a:solidFill>
                  </a:tcPr>
                </a:tc>
                <a:extLst>
                  <a:ext uri="{0D108BD9-81ED-4DB2-BD59-A6C34878D82A}">
                    <a16:rowId xmlns:a16="http://schemas.microsoft.com/office/drawing/2014/main" val="10001"/>
                  </a:ext>
                </a:extLst>
              </a:tr>
              <a:tr h="400050">
                <a:tc>
                  <a:txBody>
                    <a:bodyPr/>
                    <a:lstStyle/>
                    <a:p>
                      <a:r>
                        <a:rPr lang="en-US" sz="1200" dirty="0">
                          <a:solidFill>
                            <a:srgbClr val="172B4D"/>
                          </a:solidFill>
                          <a:latin typeface="Calibri"/>
                        </a:rPr>
                        <a:t>Required evidence</a:t>
                      </a:r>
                    </a:p>
                  </a:txBody>
                  <a:tcPr anchor="ctr">
                    <a:solidFill>
                      <a:srgbClr val="FFFFFF"/>
                    </a:solidFill>
                  </a:tcPr>
                </a:tc>
                <a:tc>
                  <a:txBody>
                    <a:bodyPr/>
                    <a:lstStyle/>
                    <a:p>
                      <a:r>
                        <a:rPr lang="en-US" sz="1200" dirty="0">
                          <a:solidFill>
                            <a:srgbClr val="172B4D"/>
                          </a:solidFill>
                          <a:latin typeface="Calibri"/>
                        </a:rPr>
                        <a:t>Health and usage are governed; optimization works; renewal readiness is visible; new questions, signals, or workloads are initiated.</a:t>
                      </a:r>
                    </a:p>
                  </a:txBody>
                  <a:tcPr anchor="ctr">
                    <a:solidFill>
                      <a:srgbClr val="FFFFFF"/>
                    </a:solidFill>
                  </a:tcPr>
                </a:tc>
                <a:tc>
                  <a:txBody>
                    <a:bodyPr/>
                    <a:lstStyle/>
                    <a:p>
                      <a:r>
                        <a:rPr lang="en-US" sz="1200" dirty="0">
                          <a:solidFill>
                            <a:srgbClr val="172B4D"/>
                          </a:solidFill>
                          <a:latin typeface="Calibri"/>
                        </a:rPr>
                        <a:t>AE/ATS sustains relationship; STU re-engages for expansion</a:t>
                      </a:r>
                    </a:p>
                  </a:txBody>
                  <a:tcPr anchor="ctr">
                    <a:solidFill>
                      <a:srgbClr val="FFFFFF"/>
                    </a:solidFill>
                  </a:tcPr>
                </a:tc>
                <a:extLst>
                  <a:ext uri="{0D108BD9-81ED-4DB2-BD59-A6C34878D82A}">
                    <a16:rowId xmlns:a16="http://schemas.microsoft.com/office/drawing/2014/main" val="10002"/>
                  </a:ext>
                </a:extLst>
              </a:tr>
              <a:tr h="400050">
                <a:tc>
                  <a:txBody>
                    <a:bodyPr/>
                    <a:lstStyle/>
                    <a:p>
                      <a:r>
                        <a:rPr lang="en-US" sz="1200" dirty="0">
                          <a:solidFill>
                            <a:srgbClr val="172B4D"/>
                          </a:solidFill>
                          <a:latin typeface="Calibri"/>
                        </a:rPr>
                        <a:t>Official exit criterion</a:t>
                      </a:r>
                    </a:p>
                  </a:txBody>
                  <a:tcPr anchor="ctr">
                    <a:solidFill>
                      <a:srgbClr val="F7F9FC"/>
                    </a:solidFill>
                  </a:tcPr>
                </a:tc>
                <a:tc>
                  <a:txBody>
                    <a:bodyPr/>
                    <a:lstStyle/>
                    <a:p>
                      <a:r>
                        <a:rPr lang="en-US" sz="1200" dirty="0">
                          <a:solidFill>
                            <a:srgbClr val="172B4D"/>
                          </a:solidFill>
                          <a:latin typeface="Calibri"/>
                        </a:rPr>
                        <a:t>New Customer Questions and workloads initiated.</a:t>
                      </a:r>
                    </a:p>
                  </a:txBody>
                  <a:tcPr anchor="ctr">
                    <a:solidFill>
                      <a:srgbClr val="F7F9FC"/>
                    </a:solidFill>
                  </a:tcPr>
                </a:tc>
                <a:tc>
                  <a:txBody>
                    <a:bodyPr/>
                    <a:lstStyle/>
                    <a:p>
                      <a:r>
                        <a:rPr lang="en-US" sz="1200" dirty="0">
                          <a:solidFill>
                            <a:srgbClr val="172B4D"/>
                          </a:solidFill>
                          <a:latin typeface="Calibri"/>
                        </a:rPr>
                        <a:t>CSU/Partner accountable</a:t>
                      </a:r>
                    </a:p>
                  </a:txBody>
                  <a:tcPr anchor="ctr">
                    <a:solidFill>
                      <a:srgbClr val="F7F9FC"/>
                    </a:solidFill>
                  </a:tcPr>
                </a:tc>
                <a:extLst>
                  <a:ext uri="{0D108BD9-81ED-4DB2-BD59-A6C34878D82A}">
                    <a16:rowId xmlns:a16="http://schemas.microsoft.com/office/drawing/2014/main" val="10003"/>
                  </a:ext>
                </a:extLst>
              </a:tr>
              <a:tr h="400050">
                <a:tc>
                  <a:txBody>
                    <a:bodyPr/>
                    <a:lstStyle/>
                    <a:p>
                      <a:r>
                        <a:rPr lang="en-US" sz="1200" dirty="0">
                          <a:solidFill>
                            <a:srgbClr val="172B4D"/>
                          </a:solidFill>
                          <a:latin typeface="Calibri"/>
                        </a:rPr>
                        <a:t>Decision</a:t>
                      </a:r>
                    </a:p>
                  </a:txBody>
                  <a:tcPr anchor="ctr">
                    <a:solidFill>
                      <a:srgbClr val="FFFFFF"/>
                    </a:solidFill>
                  </a:tcPr>
                </a:tc>
                <a:tc>
                  <a:txBody>
                    <a:bodyPr/>
                    <a:lstStyle/>
                    <a:p>
                      <a:r>
                        <a:rPr lang="en-US" sz="1200" dirty="0">
                          <a:solidFill>
                            <a:srgbClr val="172B4D"/>
                          </a:solidFill>
                          <a:latin typeface="Calibri"/>
                        </a:rPr>
                        <a:t>RE-ENTER Stage 1 or 2 for a new workload. REMAIN in Stage 5 while optimizing without a new opportunity. RECYCLE to Stage 4 if health or realized value deteriorates.</a:t>
                      </a:r>
                    </a:p>
                  </a:txBody>
                  <a:tcPr anchor="ctr">
                    <a:solidFill>
                      <a:srgbClr val="FFFFFF"/>
                    </a:solidFill>
                  </a:tcPr>
                </a:tc>
                <a:tc>
                  <a:txBody>
                    <a:bodyPr/>
                    <a:lstStyle/>
                    <a:p>
                      <a:r>
                        <a:rPr lang="en-US" sz="1200" dirty="0">
                          <a:solidFill>
                            <a:srgbClr val="172B4D"/>
                          </a:solidFill>
                          <a:latin typeface="Calibri"/>
                        </a:rPr>
                        <a:t>Customer sponsor and success team agree next outcome</a:t>
                      </a:r>
                    </a:p>
                  </a:txBody>
                  <a:tcPr anchor="ctr">
                    <a:solidFill>
                      <a:srgbClr val="FFFFFF"/>
                    </a:solidFill>
                  </a:tcPr>
                </a:tc>
                <a:extLst>
                  <a:ext uri="{0D108BD9-81ED-4DB2-BD59-A6C34878D82A}">
                    <a16:rowId xmlns:a16="http://schemas.microsoft.com/office/drawing/2014/main" val="10004"/>
                  </a:ext>
                </a:extLst>
              </a:tr>
            </a:tbl>
          </a:graphicData>
        </a:graphic>
      </p:graphicFrame>
      <p:sp>
        <p:nvSpPr>
          <p:cNvPr id="5" name="Source Note"/>
          <p:cNvSpPr/>
          <p:nvPr/>
        </p:nvSpPr>
        <p:spPr>
          <a:xfrm>
            <a:off x="457200" y="3314700"/>
            <a:ext cx="11277600" cy="285750"/>
          </a:xfrm>
          <a:prstGeom prst="rect">
            <a:avLst/>
          </a:prstGeom>
          <a:noFill/>
        </p:spPr>
        <p:txBody>
          <a:bodyPr vert="horz" wrap="square" rtlCol="0" anchor="t">
            <a:normAutofit/>
          </a:bodyPr>
          <a:lstStyle/>
          <a:p>
            <a:r>
              <a:rPr lang="en-US" sz="1000" i="1" dirty="0">
                <a:solidFill>
                  <a:srgbClr val="52616B"/>
                </a:solidFill>
                <a:latin typeface="Calibri"/>
              </a:rPr>
              <a:t>FY27 MCEM Summary of Changes; FY27 Enterprise and SME&amp;C orchestration guides</a:t>
            </a:r>
          </a:p>
        </p:txBody>
      </p:sp>
      <p:sp>
        <p:nvSpPr>
          <p:cNvPr id="100" name="Running Footer"/>
          <p:cNvSpPr>
            <a:spLocks noGrp="1"/>
          </p:cNvSpPr>
          <p:nvPr/>
        </p:nvSpPr>
        <p:spPr>
          <a:xfrm>
            <a:off x="457200" y="6492240"/>
            <a:ext cx="10180320" cy="274320"/>
          </a:xfrm>
          <a:prstGeom prst="rect">
            <a:avLst/>
          </a:prstGeom>
          <a:noFill/>
        </p:spPr>
        <p:txBody>
          <a:bodyPr vert="horz" wrap="square" rtlCol="0" anchor="ctr">
            <a:normAutofit/>
          </a:bodyPr>
          <a:lstStyle/>
          <a:p>
            <a:pPr algn="l"/>
            <a:r>
              <a:rPr lang="en-US" sz="1000" dirty="0">
                <a:solidFill>
                  <a:srgbClr val="52616B"/>
                </a:solidFill>
                <a:latin typeface="Calibri"/>
              </a:rPr>
              <a:t>FY27 MCEM · Stage Gates &amp; Roles</a:t>
            </a:r>
          </a:p>
        </p:txBody>
      </p:sp>
      <p:sp>
        <p:nvSpPr>
          <p:cNvPr id="101" name="Running Footer Page Number"/>
          <p:cNvSpPr>
            <a:spLocks noGrp="1"/>
          </p:cNvSpPr>
          <p:nvPr/>
        </p:nvSpPr>
        <p:spPr>
          <a:xfrm>
            <a:off x="10637520" y="6492240"/>
            <a:ext cx="1097280" cy="274320"/>
          </a:xfrm>
          <a:prstGeom prst="rect">
            <a:avLst/>
          </a:prstGeom>
          <a:noFill/>
        </p:spPr>
        <p:txBody>
          <a:bodyPr vert="horz" wrap="square" rtlCol="0" anchor="ctr">
            <a:normAutofit/>
          </a:bodyPr>
          <a:lstStyle/>
          <a:p>
            <a:pPr algn="r"/>
            <a:r>
              <a:rPr lang="en-US" sz="1000" dirty="0">
                <a:solidFill>
                  <a:srgbClr val="52616B"/>
                </a:solidFill>
                <a:latin typeface="Calibri"/>
              </a:rPr>
              <a:t>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99" name="Accent Bar"/>
          <p:cNvSpPr>
            <a:spLocks noGrp="1"/>
          </p:cNvSpPr>
          <p:nvPr/>
        </p:nvSpPr>
        <p:spPr>
          <a:xfrm>
            <a:off x="0" y="0"/>
            <a:ext cx="12192000" cy="73152"/>
          </a:xfrm>
          <a:prstGeom prst="rect">
            <a:avLst/>
          </a:prstGeom>
          <a:solidFill>
            <a:srgbClr val="2A446F"/>
          </a:solidFill>
        </p:spPr>
        <p:txBody>
          <a:bodyPr/>
          <a:lstStyle/>
          <a:p>
            <a:endParaRPr/>
          </a:p>
        </p:txBody>
      </p:sp>
      <p:sp>
        <p:nvSpPr>
          <p:cNvPr id="2" name="Title Bar"/>
          <p:cNvSpPr>
            <a:spLocks noGrp="1"/>
          </p:cNvSpPr>
          <p:nvPr/>
        </p:nvSpPr>
        <p:spPr>
          <a:xfrm>
            <a:off x="0" y="0"/>
            <a:ext cx="12192000" cy="914400"/>
          </a:xfrm>
          <a:prstGeom prst="rect">
            <a:avLst/>
          </a:prstGeom>
          <a:solidFill>
            <a:srgbClr val="102A43"/>
          </a:solidFill>
        </p:spPr>
        <p:txBody>
          <a:bodyPr vert="horz" wrap="square" rtlCol="0" anchor="ctr">
            <a:normAutofit/>
          </a:bodyPr>
          <a:lstStyle/>
          <a:p>
            <a:r>
              <a:rPr lang="en-US" sz="2800" b="1" dirty="0">
                <a:solidFill>
                  <a:srgbClr val="FFFFFF"/>
                </a:solidFill>
                <a:latin typeface="Trebuchet MS"/>
              </a:rPr>
              <a:t>Decision matrix · How to exit each stage</a:t>
            </a:r>
          </a:p>
        </p:txBody>
      </p:sp>
      <p:graphicFrame>
        <p:nvGraphicFramePr>
          <p:cNvPr id="4" name="Table 1"/>
          <p:cNvGraphicFramePr>
            <a:graphicFrameLocks noGrp="1"/>
          </p:cNvGraphicFramePr>
          <p:nvPr/>
        </p:nvGraphicFramePr>
        <p:xfrm>
          <a:off x="457200" y="1143000"/>
          <a:ext cx="11277601" cy="2743200"/>
        </p:xfrm>
        <a:graphic>
          <a:graphicData uri="http://schemas.openxmlformats.org/drawingml/2006/table">
            <a:tbl>
              <a:tblPr firstRow="1" bandRow="1"/>
              <a:tblGrid>
                <a:gridCol w="1611086">
                  <a:extLst>
                    <a:ext uri="{9D8B030D-6E8A-4147-A177-3AD203B41FA5}">
                      <a16:colId xmlns:a16="http://schemas.microsoft.com/office/drawing/2014/main" val="20000"/>
                    </a:ext>
                  </a:extLst>
                </a:gridCol>
                <a:gridCol w="3356429">
                  <a:extLst>
                    <a:ext uri="{9D8B030D-6E8A-4147-A177-3AD203B41FA5}">
                      <a16:colId xmlns:a16="http://schemas.microsoft.com/office/drawing/2014/main" val="20001"/>
                    </a:ext>
                  </a:extLst>
                </a:gridCol>
                <a:gridCol w="2953657">
                  <a:extLst>
                    <a:ext uri="{9D8B030D-6E8A-4147-A177-3AD203B41FA5}">
                      <a16:colId xmlns:a16="http://schemas.microsoft.com/office/drawing/2014/main" val="20002"/>
                    </a:ext>
                  </a:extLst>
                </a:gridCol>
                <a:gridCol w="3356429">
                  <a:extLst>
                    <a:ext uri="{9D8B030D-6E8A-4147-A177-3AD203B41FA5}">
                      <a16:colId xmlns:a16="http://schemas.microsoft.com/office/drawing/2014/main" val="20003"/>
                    </a:ext>
                  </a:extLst>
                </a:gridCol>
              </a:tblGrid>
              <a:tr h="457200">
                <a:tc>
                  <a:txBody>
                    <a:bodyPr/>
                    <a:lstStyle/>
                    <a:p>
                      <a:r>
                        <a:rPr lang="en-US" sz="1200" b="1" dirty="0">
                          <a:solidFill>
                            <a:srgbClr val="FFFFFF"/>
                          </a:solidFill>
                          <a:latin typeface="Trebuchet MS"/>
                        </a:rPr>
                        <a:t>Gate</a:t>
                      </a:r>
                    </a:p>
                  </a:txBody>
                  <a:tcPr anchor="ctr">
                    <a:solidFill>
                      <a:srgbClr val="2A446F"/>
                    </a:solidFill>
                  </a:tcPr>
                </a:tc>
                <a:tc>
                  <a:txBody>
                    <a:bodyPr/>
                    <a:lstStyle/>
                    <a:p>
                      <a:r>
                        <a:rPr lang="en-US" sz="1200" b="1" dirty="0">
                          <a:solidFill>
                            <a:srgbClr val="FFFFFF"/>
                          </a:solidFill>
                          <a:latin typeface="Trebuchet MS"/>
                        </a:rPr>
                        <a:t>ADVANCE / EXIT</a:t>
                      </a:r>
                    </a:p>
                  </a:txBody>
                  <a:tcPr anchor="ctr">
                    <a:solidFill>
                      <a:srgbClr val="2A446F"/>
                    </a:solidFill>
                  </a:tcPr>
                </a:tc>
                <a:tc>
                  <a:txBody>
                    <a:bodyPr/>
                    <a:lstStyle/>
                    <a:p>
                      <a:r>
                        <a:rPr lang="en-US" sz="1200" b="1" dirty="0">
                          <a:solidFill>
                            <a:srgbClr val="FFFFFF"/>
                          </a:solidFill>
                          <a:latin typeface="Trebuchet MS"/>
                        </a:rPr>
                        <a:t>HOLD</a:t>
                      </a:r>
                    </a:p>
                  </a:txBody>
                  <a:tcPr anchor="ctr">
                    <a:solidFill>
                      <a:srgbClr val="2A446F"/>
                    </a:solidFill>
                  </a:tcPr>
                </a:tc>
                <a:tc>
                  <a:txBody>
                    <a:bodyPr/>
                    <a:lstStyle/>
                    <a:p>
                      <a:r>
                        <a:rPr lang="en-US" sz="1200" b="1" dirty="0">
                          <a:solidFill>
                            <a:srgbClr val="FFFFFF"/>
                          </a:solidFill>
                          <a:latin typeface="Trebuchet MS"/>
                        </a:rPr>
                        <a:t>RECYCLE / ESCALATE</a:t>
                      </a:r>
                    </a:p>
                  </a:txBody>
                  <a:tcPr anchor="ctr">
                    <a:solidFill>
                      <a:srgbClr val="2A446F"/>
                    </a:solidFill>
                  </a:tcPr>
                </a:tc>
                <a:extLst>
                  <a:ext uri="{0D108BD9-81ED-4DB2-BD59-A6C34878D82A}">
                    <a16:rowId xmlns:a16="http://schemas.microsoft.com/office/drawing/2014/main" val="10000"/>
                  </a:ext>
                </a:extLst>
              </a:tr>
              <a:tr h="400050">
                <a:tc>
                  <a:txBody>
                    <a:bodyPr/>
                    <a:lstStyle/>
                    <a:p>
                      <a:r>
                        <a:rPr lang="en-US" sz="1200" dirty="0">
                          <a:solidFill>
                            <a:srgbClr val="172B4D"/>
                          </a:solidFill>
                          <a:latin typeface="Calibri"/>
                        </a:rPr>
                        <a:t>1 → 2</a:t>
                      </a:r>
                    </a:p>
                  </a:txBody>
                  <a:tcPr anchor="ctr">
                    <a:solidFill>
                      <a:srgbClr val="F7F9FC"/>
                    </a:solidFill>
                  </a:tcPr>
                </a:tc>
                <a:tc>
                  <a:txBody>
                    <a:bodyPr/>
                    <a:lstStyle/>
                    <a:p>
                      <a:r>
                        <a:rPr lang="en-US" sz="1200" dirty="0">
                          <a:solidFill>
                            <a:srgbClr val="107C10"/>
                          </a:solidFill>
                          <a:latin typeface="Calibri"/>
                        </a:rPr>
                        <a:t>Qualified pipeline plus all BOAT evidence.</a:t>
                      </a:r>
                    </a:p>
                  </a:txBody>
                  <a:tcPr anchor="ctr">
                    <a:solidFill>
                      <a:srgbClr val="F7F9FC"/>
                    </a:solidFill>
                  </a:tcPr>
                </a:tc>
                <a:tc>
                  <a:txBody>
                    <a:bodyPr/>
                    <a:lstStyle/>
                    <a:p>
                      <a:r>
                        <a:rPr lang="en-US" sz="1200" dirty="0">
                          <a:solidFill>
                            <a:srgbClr val="B8860B"/>
                          </a:solidFill>
                          <a:latin typeface="Calibri"/>
                        </a:rPr>
                        <a:t>One or more BOAT items incomplete but recoverable.</a:t>
                      </a:r>
                    </a:p>
                  </a:txBody>
                  <a:tcPr anchor="ctr">
                    <a:solidFill>
                      <a:srgbClr val="F7F9FC"/>
                    </a:solidFill>
                  </a:tcPr>
                </a:tc>
                <a:tc>
                  <a:txBody>
                    <a:bodyPr/>
                    <a:lstStyle/>
                    <a:p>
                      <a:r>
                        <a:rPr lang="en-US" sz="1200" dirty="0">
                          <a:solidFill>
                            <a:srgbClr val="C50F1F"/>
                          </a:solidFill>
                          <a:latin typeface="Calibri"/>
                        </a:rPr>
                        <a:t>No clear priority, sponsor, outcome, or viable opportunity.</a:t>
                      </a:r>
                    </a:p>
                  </a:txBody>
                  <a:tcPr anchor="ctr">
                    <a:solidFill>
                      <a:srgbClr val="F7F9FC"/>
                    </a:solidFill>
                  </a:tcPr>
                </a:tc>
                <a:extLst>
                  <a:ext uri="{0D108BD9-81ED-4DB2-BD59-A6C34878D82A}">
                    <a16:rowId xmlns:a16="http://schemas.microsoft.com/office/drawing/2014/main" val="10001"/>
                  </a:ext>
                </a:extLst>
              </a:tr>
              <a:tr h="400050">
                <a:tc>
                  <a:txBody>
                    <a:bodyPr/>
                    <a:lstStyle/>
                    <a:p>
                      <a:r>
                        <a:rPr lang="en-US" sz="1200" dirty="0">
                          <a:solidFill>
                            <a:srgbClr val="172B4D"/>
                          </a:solidFill>
                          <a:latin typeface="Calibri"/>
                        </a:rPr>
                        <a:t>2 → 3</a:t>
                      </a:r>
                    </a:p>
                  </a:txBody>
                  <a:tcPr anchor="ctr">
                    <a:solidFill>
                      <a:srgbClr val="FFFFFF"/>
                    </a:solidFill>
                  </a:tcPr>
                </a:tc>
                <a:tc>
                  <a:txBody>
                    <a:bodyPr/>
                    <a:lstStyle/>
                    <a:p>
                      <a:r>
                        <a:rPr lang="en-US" sz="1200" dirty="0">
                          <a:solidFill>
                            <a:srgbClr val="107C10"/>
                          </a:solidFill>
                          <a:latin typeface="Calibri"/>
                        </a:rPr>
                        <a:t>Value, technical fit, plans, and delivery route credible.</a:t>
                      </a:r>
                    </a:p>
                  </a:txBody>
                  <a:tcPr anchor="ctr">
                    <a:solidFill>
                      <a:srgbClr val="FFFFFF"/>
                    </a:solidFill>
                  </a:tcPr>
                </a:tc>
                <a:tc>
                  <a:txBody>
                    <a:bodyPr/>
                    <a:lstStyle/>
                    <a:p>
                      <a:r>
                        <a:rPr lang="en-US" sz="1200" dirty="0">
                          <a:solidFill>
                            <a:srgbClr val="B8860B"/>
                          </a:solidFill>
                          <a:latin typeface="Calibri"/>
                        </a:rPr>
                        <a:t>Proof, business case, scale engine, or plan incomplete.</a:t>
                      </a:r>
                    </a:p>
                  </a:txBody>
                  <a:tcPr anchor="ctr">
                    <a:solidFill>
                      <a:srgbClr val="FFFFFF"/>
                    </a:solidFill>
                  </a:tcPr>
                </a:tc>
                <a:tc>
                  <a:txBody>
                    <a:bodyPr/>
                    <a:lstStyle/>
                    <a:p>
                      <a:r>
                        <a:rPr lang="en-US" sz="1200" dirty="0">
                          <a:solidFill>
                            <a:srgbClr val="C50F1F"/>
                          </a:solidFill>
                          <a:latin typeface="Calibri"/>
                        </a:rPr>
                        <a:t>Customer need changed; return to discovery.</a:t>
                      </a:r>
                    </a:p>
                  </a:txBody>
                  <a:tcPr anchor="ctr">
                    <a:solidFill>
                      <a:srgbClr val="FFFFFF"/>
                    </a:solidFill>
                  </a:tcPr>
                </a:tc>
                <a:extLst>
                  <a:ext uri="{0D108BD9-81ED-4DB2-BD59-A6C34878D82A}">
                    <a16:rowId xmlns:a16="http://schemas.microsoft.com/office/drawing/2014/main" val="10002"/>
                  </a:ext>
                </a:extLst>
              </a:tr>
              <a:tr h="400050">
                <a:tc>
                  <a:txBody>
                    <a:bodyPr/>
                    <a:lstStyle/>
                    <a:p>
                      <a:r>
                        <a:rPr lang="en-US" sz="1200" dirty="0">
                          <a:solidFill>
                            <a:srgbClr val="172B4D"/>
                          </a:solidFill>
                          <a:latin typeface="Calibri"/>
                        </a:rPr>
                        <a:t>3 → 4</a:t>
                      </a:r>
                    </a:p>
                  </a:txBody>
                  <a:tcPr anchor="ctr">
                    <a:solidFill>
                      <a:srgbClr val="F7F9FC"/>
                    </a:solidFill>
                  </a:tcPr>
                </a:tc>
                <a:tc>
                  <a:txBody>
                    <a:bodyPr/>
                    <a:lstStyle/>
                    <a:p>
                      <a:r>
                        <a:rPr lang="en-US" sz="1200" dirty="0">
                          <a:solidFill>
                            <a:srgbClr val="107C10"/>
                          </a:solidFill>
                          <a:latin typeface="Calibri"/>
                        </a:rPr>
                        <a:t>Agreement, committed pipeline, technical close, and handoff accepted.</a:t>
                      </a:r>
                    </a:p>
                  </a:txBody>
                  <a:tcPr anchor="ctr">
                    <a:solidFill>
                      <a:srgbClr val="F7F9FC"/>
                    </a:solidFill>
                  </a:tcPr>
                </a:tc>
                <a:tc>
                  <a:txBody>
                    <a:bodyPr/>
                    <a:lstStyle/>
                    <a:p>
                      <a:r>
                        <a:rPr lang="en-US" sz="1200" dirty="0">
                          <a:solidFill>
                            <a:srgbClr val="B8860B"/>
                          </a:solidFill>
                          <a:latin typeface="Calibri"/>
                        </a:rPr>
                        <a:t>Terms, approvals, proof, or delivery owner open.</a:t>
                      </a:r>
                    </a:p>
                  </a:txBody>
                  <a:tcPr anchor="ctr">
                    <a:solidFill>
                      <a:srgbClr val="F7F9FC"/>
                    </a:solidFill>
                  </a:tcPr>
                </a:tc>
                <a:tc>
                  <a:txBody>
                    <a:bodyPr/>
                    <a:lstStyle/>
                    <a:p>
                      <a:r>
                        <a:rPr lang="en-US" sz="1200" dirty="0">
                          <a:solidFill>
                            <a:srgbClr val="C50F1F"/>
                          </a:solidFill>
                          <a:latin typeface="Calibri"/>
                        </a:rPr>
                        <a:t>Scope/value/architecture changed; redesign or requalify.</a:t>
                      </a:r>
                    </a:p>
                  </a:txBody>
                  <a:tcPr anchor="ctr">
                    <a:solidFill>
                      <a:srgbClr val="F7F9FC"/>
                    </a:solidFill>
                  </a:tcPr>
                </a:tc>
                <a:extLst>
                  <a:ext uri="{0D108BD9-81ED-4DB2-BD59-A6C34878D82A}">
                    <a16:rowId xmlns:a16="http://schemas.microsoft.com/office/drawing/2014/main" val="10003"/>
                  </a:ext>
                </a:extLst>
              </a:tr>
              <a:tr h="400050">
                <a:tc>
                  <a:txBody>
                    <a:bodyPr/>
                    <a:lstStyle/>
                    <a:p>
                      <a:r>
                        <a:rPr lang="en-US" sz="1200" dirty="0">
                          <a:solidFill>
                            <a:srgbClr val="172B4D"/>
                          </a:solidFill>
                          <a:latin typeface="Calibri"/>
                        </a:rPr>
                        <a:t>4 → 5</a:t>
                      </a:r>
                    </a:p>
                  </a:txBody>
                  <a:tcPr anchor="ctr">
                    <a:solidFill>
                      <a:srgbClr val="FFFFFF"/>
                    </a:solidFill>
                  </a:tcPr>
                </a:tc>
                <a:tc>
                  <a:txBody>
                    <a:bodyPr/>
                    <a:lstStyle/>
                    <a:p>
                      <a:r>
                        <a:rPr lang="en-US" sz="1200" dirty="0">
                          <a:solidFill>
                            <a:srgbClr val="107C10"/>
                          </a:solidFill>
                          <a:latin typeface="Calibri"/>
                        </a:rPr>
                        <a:t>Scale and measurable business value demonstrated.</a:t>
                      </a:r>
                    </a:p>
                  </a:txBody>
                  <a:tcPr anchor="ctr">
                    <a:solidFill>
                      <a:srgbClr val="FFFFFF"/>
                    </a:solidFill>
                  </a:tcPr>
                </a:tc>
                <a:tc>
                  <a:txBody>
                    <a:bodyPr/>
                    <a:lstStyle/>
                    <a:p>
                      <a:r>
                        <a:rPr lang="en-US" sz="1200" dirty="0">
                          <a:solidFill>
                            <a:srgbClr val="B8860B"/>
                          </a:solidFill>
                          <a:latin typeface="Calibri"/>
                        </a:rPr>
                        <a:t>Adoption, consumption, health, or milestones below plan.</a:t>
                      </a:r>
                    </a:p>
                  </a:txBody>
                  <a:tcPr anchor="ctr">
                    <a:solidFill>
                      <a:srgbClr val="FFFFFF"/>
                    </a:solidFill>
                  </a:tcPr>
                </a:tc>
                <a:tc>
                  <a:txBody>
                    <a:bodyPr/>
                    <a:lstStyle/>
                    <a:p>
                      <a:r>
                        <a:rPr lang="en-US" sz="1200" dirty="0">
                          <a:solidFill>
                            <a:srgbClr val="C50F1F"/>
                          </a:solidFill>
                          <a:latin typeface="Calibri"/>
                        </a:rPr>
                        <a:t>Commitment, funding, scope, or ownership must reset.</a:t>
                      </a:r>
                    </a:p>
                  </a:txBody>
                  <a:tcPr anchor="ctr">
                    <a:solidFill>
                      <a:srgbClr val="FFFFFF"/>
                    </a:solidFill>
                  </a:tcPr>
                </a:tc>
                <a:extLst>
                  <a:ext uri="{0D108BD9-81ED-4DB2-BD59-A6C34878D82A}">
                    <a16:rowId xmlns:a16="http://schemas.microsoft.com/office/drawing/2014/main" val="10004"/>
                  </a:ext>
                </a:extLst>
              </a:tr>
              <a:tr h="400050">
                <a:tc>
                  <a:txBody>
                    <a:bodyPr/>
                    <a:lstStyle/>
                    <a:p>
                      <a:r>
                        <a:rPr lang="en-US" sz="1200" dirty="0">
                          <a:solidFill>
                            <a:srgbClr val="172B4D"/>
                          </a:solidFill>
                          <a:latin typeface="Calibri"/>
                        </a:rPr>
                        <a:t>5 → next</a:t>
                      </a:r>
                    </a:p>
                  </a:txBody>
                  <a:tcPr anchor="ctr">
                    <a:solidFill>
                      <a:srgbClr val="F7F9FC"/>
                    </a:solidFill>
                  </a:tcPr>
                </a:tc>
                <a:tc>
                  <a:txBody>
                    <a:bodyPr/>
                    <a:lstStyle/>
                    <a:p>
                      <a:r>
                        <a:rPr lang="en-US" sz="1200" dirty="0">
                          <a:solidFill>
                            <a:srgbClr val="107C10"/>
                          </a:solidFill>
                          <a:latin typeface="Calibri"/>
                        </a:rPr>
                        <a:t>New customer question or workload initiated.</a:t>
                      </a:r>
                    </a:p>
                  </a:txBody>
                  <a:tcPr anchor="ctr">
                    <a:solidFill>
                      <a:srgbClr val="F7F9FC"/>
                    </a:solidFill>
                  </a:tcPr>
                </a:tc>
                <a:tc>
                  <a:txBody>
                    <a:bodyPr/>
                    <a:lstStyle/>
                    <a:p>
                      <a:r>
                        <a:rPr lang="en-US" sz="1200" dirty="0">
                          <a:solidFill>
                            <a:srgbClr val="B8860B"/>
                          </a:solidFill>
                          <a:latin typeface="Calibri"/>
                        </a:rPr>
                        <a:t>Continue optimization; no expansion signal yet.</a:t>
                      </a:r>
                    </a:p>
                  </a:txBody>
                  <a:tcPr anchor="ctr">
                    <a:solidFill>
                      <a:srgbClr val="F7F9FC"/>
                    </a:solidFill>
                  </a:tcPr>
                </a:tc>
                <a:tc>
                  <a:txBody>
                    <a:bodyPr/>
                    <a:lstStyle/>
                    <a:p>
                      <a:r>
                        <a:rPr lang="en-US" sz="1200" dirty="0">
                          <a:solidFill>
                            <a:srgbClr val="C50F1F"/>
                          </a:solidFill>
                          <a:latin typeface="Calibri"/>
                        </a:rPr>
                        <a:t>Value or health regressed; return to Stage 4 recovery.</a:t>
                      </a:r>
                    </a:p>
                  </a:txBody>
                  <a:tcPr anchor="ctr">
                    <a:solidFill>
                      <a:srgbClr val="F7F9FC"/>
                    </a:solidFill>
                  </a:tcPr>
                </a:tc>
                <a:extLst>
                  <a:ext uri="{0D108BD9-81ED-4DB2-BD59-A6C34878D82A}">
                    <a16:rowId xmlns:a16="http://schemas.microsoft.com/office/drawing/2014/main" val="10005"/>
                  </a:ext>
                </a:extLst>
              </a:tr>
            </a:tbl>
          </a:graphicData>
        </a:graphic>
      </p:graphicFrame>
      <p:sp>
        <p:nvSpPr>
          <p:cNvPr id="5" name="Source Note"/>
          <p:cNvSpPr/>
          <p:nvPr/>
        </p:nvSpPr>
        <p:spPr>
          <a:xfrm>
            <a:off x="457200" y="3714750"/>
            <a:ext cx="11277600" cy="285750"/>
          </a:xfrm>
          <a:prstGeom prst="rect">
            <a:avLst/>
          </a:prstGeom>
          <a:noFill/>
        </p:spPr>
        <p:txBody>
          <a:bodyPr vert="horz" wrap="square" rtlCol="0" anchor="t">
            <a:normAutofit/>
          </a:bodyPr>
          <a:lstStyle/>
          <a:p>
            <a:r>
              <a:rPr lang="en-US" sz="1000" i="1" dirty="0">
                <a:solidFill>
                  <a:srgbClr val="52616B"/>
                </a:solidFill>
                <a:latin typeface="Calibri"/>
              </a:rPr>
              <a:t>Decision logic synthesized from official exit criteria, BOAT, stage progression, and orchestration handoffs.</a:t>
            </a:r>
          </a:p>
        </p:txBody>
      </p:sp>
      <p:sp>
        <p:nvSpPr>
          <p:cNvPr id="100" name="Running Footer"/>
          <p:cNvSpPr>
            <a:spLocks noGrp="1"/>
          </p:cNvSpPr>
          <p:nvPr/>
        </p:nvSpPr>
        <p:spPr>
          <a:xfrm>
            <a:off x="457200" y="6492240"/>
            <a:ext cx="10180320" cy="274320"/>
          </a:xfrm>
          <a:prstGeom prst="rect">
            <a:avLst/>
          </a:prstGeom>
          <a:noFill/>
        </p:spPr>
        <p:txBody>
          <a:bodyPr vert="horz" wrap="square" rtlCol="0" anchor="ctr">
            <a:normAutofit/>
          </a:bodyPr>
          <a:lstStyle/>
          <a:p>
            <a:pPr algn="l"/>
            <a:r>
              <a:rPr lang="en-US" sz="1000" dirty="0">
                <a:solidFill>
                  <a:srgbClr val="52616B"/>
                </a:solidFill>
                <a:latin typeface="Calibri"/>
              </a:rPr>
              <a:t>FY27 MCEM · Stage Gates &amp; Roles</a:t>
            </a:r>
          </a:p>
        </p:txBody>
      </p:sp>
      <p:sp>
        <p:nvSpPr>
          <p:cNvPr id="101" name="Running Footer Page Number"/>
          <p:cNvSpPr>
            <a:spLocks noGrp="1"/>
          </p:cNvSpPr>
          <p:nvPr/>
        </p:nvSpPr>
        <p:spPr>
          <a:xfrm>
            <a:off x="10637520" y="6492240"/>
            <a:ext cx="1097280" cy="274320"/>
          </a:xfrm>
          <a:prstGeom prst="rect">
            <a:avLst/>
          </a:prstGeom>
          <a:noFill/>
        </p:spPr>
        <p:txBody>
          <a:bodyPr vert="horz" wrap="square" rtlCol="0" anchor="ctr">
            <a:normAutofit/>
          </a:bodyPr>
          <a:lstStyle/>
          <a:p>
            <a:pPr algn="r"/>
            <a:r>
              <a:rPr lang="en-US" sz="1000" dirty="0">
                <a:solidFill>
                  <a:srgbClr val="52616B"/>
                </a:solidFill>
                <a:latin typeface="Calibri"/>
              </a:rPr>
              <a:t>7</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99" name="Accent Bar"/>
          <p:cNvSpPr>
            <a:spLocks noGrp="1"/>
          </p:cNvSpPr>
          <p:nvPr/>
        </p:nvSpPr>
        <p:spPr>
          <a:xfrm>
            <a:off x="0" y="0"/>
            <a:ext cx="12192000" cy="73152"/>
          </a:xfrm>
          <a:prstGeom prst="rect">
            <a:avLst/>
          </a:prstGeom>
          <a:solidFill>
            <a:srgbClr val="2A446F"/>
          </a:solidFill>
        </p:spPr>
        <p:txBody>
          <a:bodyPr/>
          <a:lstStyle/>
          <a:p>
            <a:endParaRPr/>
          </a:p>
        </p:txBody>
      </p:sp>
      <p:sp>
        <p:nvSpPr>
          <p:cNvPr id="2" name="Title Bar"/>
          <p:cNvSpPr>
            <a:spLocks noGrp="1"/>
          </p:cNvSpPr>
          <p:nvPr/>
        </p:nvSpPr>
        <p:spPr>
          <a:xfrm>
            <a:off x="0" y="0"/>
            <a:ext cx="12192000" cy="914400"/>
          </a:xfrm>
          <a:prstGeom prst="rect">
            <a:avLst/>
          </a:prstGeom>
          <a:solidFill>
            <a:srgbClr val="102A43"/>
          </a:solidFill>
        </p:spPr>
        <p:txBody>
          <a:bodyPr vert="horz" wrap="square" rtlCol="0" anchor="ctr">
            <a:normAutofit/>
          </a:bodyPr>
          <a:lstStyle/>
          <a:p>
            <a:r>
              <a:rPr lang="en-US" sz="2800" b="1" dirty="0">
                <a:solidFill>
                  <a:srgbClr val="FFFFFF"/>
                </a:solidFill>
                <a:latin typeface="Trebuchet MS"/>
              </a:rPr>
              <a:t>Personnel and role involvement by stage</a:t>
            </a:r>
          </a:p>
        </p:txBody>
      </p:sp>
      <p:graphicFrame>
        <p:nvGraphicFramePr>
          <p:cNvPr id="4" name="Table 1"/>
          <p:cNvGraphicFramePr>
            <a:graphicFrameLocks noGrp="1"/>
          </p:cNvGraphicFramePr>
          <p:nvPr/>
        </p:nvGraphicFramePr>
        <p:xfrm>
          <a:off x="457200" y="1143000"/>
          <a:ext cx="11277601" cy="2628900"/>
        </p:xfrm>
        <a:graphic>
          <a:graphicData uri="http://schemas.openxmlformats.org/drawingml/2006/table">
            <a:tbl>
              <a:tblPr firstRow="1" bandRow="1"/>
              <a:tblGrid>
                <a:gridCol w="1794164">
                  <a:extLst>
                    <a:ext uri="{9D8B030D-6E8A-4147-A177-3AD203B41FA5}">
                      <a16:colId xmlns:a16="http://schemas.microsoft.com/office/drawing/2014/main" val="20000"/>
                    </a:ext>
                  </a:extLst>
                </a:gridCol>
                <a:gridCol w="2050473">
                  <a:extLst>
                    <a:ext uri="{9D8B030D-6E8A-4147-A177-3AD203B41FA5}">
                      <a16:colId xmlns:a16="http://schemas.microsoft.com/office/drawing/2014/main" val="20001"/>
                    </a:ext>
                  </a:extLst>
                </a:gridCol>
                <a:gridCol w="4485409">
                  <a:extLst>
                    <a:ext uri="{9D8B030D-6E8A-4147-A177-3AD203B41FA5}">
                      <a16:colId xmlns:a16="http://schemas.microsoft.com/office/drawing/2014/main" val="20002"/>
                    </a:ext>
                  </a:extLst>
                </a:gridCol>
                <a:gridCol w="2947555">
                  <a:extLst>
                    <a:ext uri="{9D8B030D-6E8A-4147-A177-3AD203B41FA5}">
                      <a16:colId xmlns:a16="http://schemas.microsoft.com/office/drawing/2014/main" val="20003"/>
                    </a:ext>
                  </a:extLst>
                </a:gridCol>
              </a:tblGrid>
              <a:tr h="457200">
                <a:tc>
                  <a:txBody>
                    <a:bodyPr/>
                    <a:lstStyle/>
                    <a:p>
                      <a:r>
                        <a:rPr lang="en-US" sz="1200" b="1" dirty="0">
                          <a:solidFill>
                            <a:srgbClr val="FFFFFF"/>
                          </a:solidFill>
                          <a:latin typeface="Trebuchet MS"/>
                        </a:rPr>
                        <a:t>Stage</a:t>
                      </a:r>
                    </a:p>
                  </a:txBody>
                  <a:tcPr anchor="ctr">
                    <a:solidFill>
                      <a:srgbClr val="2A446F"/>
                    </a:solidFill>
                  </a:tcPr>
                </a:tc>
                <a:tc>
                  <a:txBody>
                    <a:bodyPr/>
                    <a:lstStyle/>
                    <a:p>
                      <a:r>
                        <a:rPr lang="en-US" sz="1200" b="1" dirty="0">
                          <a:solidFill>
                            <a:srgbClr val="FFFFFF"/>
                          </a:solidFill>
                          <a:latin typeface="Trebuchet MS"/>
                        </a:rPr>
                        <a:t>Accountable org</a:t>
                      </a:r>
                    </a:p>
                  </a:txBody>
                  <a:tcPr anchor="ctr">
                    <a:solidFill>
                      <a:srgbClr val="2A446F"/>
                    </a:solidFill>
                  </a:tcPr>
                </a:tc>
                <a:tc>
                  <a:txBody>
                    <a:bodyPr/>
                    <a:lstStyle/>
                    <a:p>
                      <a:r>
                        <a:rPr lang="en-US" sz="1200" b="1" dirty="0">
                          <a:solidFill>
                            <a:srgbClr val="FFFFFF"/>
                          </a:solidFill>
                          <a:latin typeface="Trebuchet MS"/>
                        </a:rPr>
                        <a:t>Core roles</a:t>
                      </a:r>
                    </a:p>
                  </a:txBody>
                  <a:tcPr anchor="ctr">
                    <a:solidFill>
                      <a:srgbClr val="2A446F"/>
                    </a:solidFill>
                  </a:tcPr>
                </a:tc>
                <a:tc>
                  <a:txBody>
                    <a:bodyPr/>
                    <a:lstStyle/>
                    <a:p>
                      <a:r>
                        <a:rPr lang="en-US" sz="1200" b="1" dirty="0">
                          <a:solidFill>
                            <a:srgbClr val="FFFFFF"/>
                          </a:solidFill>
                          <a:latin typeface="Trebuchet MS"/>
                        </a:rPr>
                        <a:t>Critical handoff</a:t>
                      </a:r>
                    </a:p>
                  </a:txBody>
                  <a:tcPr anchor="ctr">
                    <a:solidFill>
                      <a:srgbClr val="2A446F"/>
                    </a:solidFill>
                  </a:tcPr>
                </a:tc>
                <a:extLst>
                  <a:ext uri="{0D108BD9-81ED-4DB2-BD59-A6C34878D82A}">
                    <a16:rowId xmlns:a16="http://schemas.microsoft.com/office/drawing/2014/main" val="10000"/>
                  </a:ext>
                </a:extLst>
              </a:tr>
              <a:tr h="400050">
                <a:tc>
                  <a:txBody>
                    <a:bodyPr/>
                    <a:lstStyle/>
                    <a:p>
                      <a:r>
                        <a:rPr lang="en-US" sz="1200" dirty="0">
                          <a:solidFill>
                            <a:srgbClr val="172B4D"/>
                          </a:solidFill>
                          <a:latin typeface="Calibri"/>
                        </a:rPr>
                        <a:t>Listen &amp; Consult</a:t>
                      </a:r>
                    </a:p>
                  </a:txBody>
                  <a:tcPr anchor="ctr">
                    <a:solidFill>
                      <a:srgbClr val="F7F9FC"/>
                    </a:solidFill>
                  </a:tcPr>
                </a:tc>
                <a:tc>
                  <a:txBody>
                    <a:bodyPr/>
                    <a:lstStyle/>
                    <a:p>
                      <a:r>
                        <a:rPr lang="en-US" sz="1200" dirty="0">
                          <a:solidFill>
                            <a:srgbClr val="172B4D"/>
                          </a:solidFill>
                          <a:latin typeface="Calibri"/>
                        </a:rPr>
                        <a:t>ATU</a:t>
                      </a:r>
                    </a:p>
                  </a:txBody>
                  <a:tcPr anchor="ctr">
                    <a:solidFill>
                      <a:srgbClr val="F7F9FC"/>
                    </a:solidFill>
                  </a:tcPr>
                </a:tc>
                <a:tc>
                  <a:txBody>
                    <a:bodyPr/>
                    <a:lstStyle/>
                    <a:p>
                      <a:r>
                        <a:rPr lang="en-US" sz="1200" dirty="0">
                          <a:solidFill>
                            <a:srgbClr val="172B4D"/>
                          </a:solidFill>
                          <a:latin typeface="Calibri"/>
                        </a:rPr>
                        <a:t>AE/DAE, ATS, IA, CE, SAE; SSP/DSS; CSAM and Partner</a:t>
                      </a:r>
                    </a:p>
                  </a:txBody>
                  <a:tcPr anchor="ctr">
                    <a:solidFill>
                      <a:srgbClr val="F7F9FC"/>
                    </a:solidFill>
                  </a:tcPr>
                </a:tc>
                <a:tc>
                  <a:txBody>
                    <a:bodyPr/>
                    <a:lstStyle/>
                    <a:p>
                      <a:r>
                        <a:rPr lang="en-US" sz="1200" dirty="0">
                          <a:solidFill>
                            <a:srgbClr val="172B4D"/>
                          </a:solidFill>
                          <a:latin typeface="Calibri"/>
                        </a:rPr>
                        <a:t>ATU → STU with qualified need and outcomes</a:t>
                      </a:r>
                    </a:p>
                  </a:txBody>
                  <a:tcPr anchor="ctr">
                    <a:solidFill>
                      <a:srgbClr val="F7F9FC"/>
                    </a:solidFill>
                  </a:tcPr>
                </a:tc>
                <a:extLst>
                  <a:ext uri="{0D108BD9-81ED-4DB2-BD59-A6C34878D82A}">
                    <a16:rowId xmlns:a16="http://schemas.microsoft.com/office/drawing/2014/main" val="10001"/>
                  </a:ext>
                </a:extLst>
              </a:tr>
              <a:tr h="400050">
                <a:tc>
                  <a:txBody>
                    <a:bodyPr/>
                    <a:lstStyle/>
                    <a:p>
                      <a:r>
                        <a:rPr lang="en-US" sz="1200" dirty="0">
                          <a:solidFill>
                            <a:srgbClr val="172B4D"/>
                          </a:solidFill>
                          <a:latin typeface="Calibri"/>
                        </a:rPr>
                        <a:t>Inspire &amp; Design</a:t>
                      </a:r>
                    </a:p>
                  </a:txBody>
                  <a:tcPr anchor="ctr">
                    <a:solidFill>
                      <a:srgbClr val="FFFFFF"/>
                    </a:solidFill>
                  </a:tcPr>
                </a:tc>
                <a:tc>
                  <a:txBody>
                    <a:bodyPr/>
                    <a:lstStyle/>
                    <a:p>
                      <a:r>
                        <a:rPr lang="en-US" sz="1200" dirty="0">
                          <a:solidFill>
                            <a:srgbClr val="172B4D"/>
                          </a:solidFill>
                          <a:latin typeface="Calibri"/>
                        </a:rPr>
                        <a:t>STU</a:t>
                      </a:r>
                    </a:p>
                  </a:txBody>
                  <a:tcPr anchor="ctr">
                    <a:solidFill>
                      <a:srgbClr val="FFFFFF"/>
                    </a:solidFill>
                  </a:tcPr>
                </a:tc>
                <a:tc>
                  <a:txBody>
                    <a:bodyPr/>
                    <a:lstStyle/>
                    <a:p>
                      <a:r>
                        <a:rPr lang="en-US" sz="1200" dirty="0">
                          <a:solidFill>
                            <a:srgbClr val="172B4D"/>
                          </a:solidFill>
                          <a:latin typeface="Calibri"/>
                        </a:rPr>
                        <a:t>SSP/DSS, SE/DSE; AE/DAE and CE; CSAM/CSA; PSS/PDM and Partner</a:t>
                      </a:r>
                    </a:p>
                  </a:txBody>
                  <a:tcPr anchor="ctr">
                    <a:solidFill>
                      <a:srgbClr val="FFFFFF"/>
                    </a:solidFill>
                  </a:tcPr>
                </a:tc>
                <a:tc>
                  <a:txBody>
                    <a:bodyPr/>
                    <a:lstStyle/>
                    <a:p>
                      <a:r>
                        <a:rPr lang="en-US" sz="1200" dirty="0">
                          <a:solidFill>
                            <a:srgbClr val="172B4D"/>
                          </a:solidFill>
                          <a:latin typeface="Calibri"/>
                        </a:rPr>
                        <a:t>Value and design align with delivery path</a:t>
                      </a:r>
                    </a:p>
                  </a:txBody>
                  <a:tcPr anchor="ctr">
                    <a:solidFill>
                      <a:srgbClr val="FFFFFF"/>
                    </a:solidFill>
                  </a:tcPr>
                </a:tc>
                <a:extLst>
                  <a:ext uri="{0D108BD9-81ED-4DB2-BD59-A6C34878D82A}">
                    <a16:rowId xmlns:a16="http://schemas.microsoft.com/office/drawing/2014/main" val="10002"/>
                  </a:ext>
                </a:extLst>
              </a:tr>
              <a:tr h="400050">
                <a:tc>
                  <a:txBody>
                    <a:bodyPr/>
                    <a:lstStyle/>
                    <a:p>
                      <a:r>
                        <a:rPr lang="en-US" sz="1200" dirty="0">
                          <a:solidFill>
                            <a:srgbClr val="172B4D"/>
                          </a:solidFill>
                          <a:latin typeface="Calibri"/>
                        </a:rPr>
                        <a:t>Empower &amp; Achieve</a:t>
                      </a:r>
                    </a:p>
                  </a:txBody>
                  <a:tcPr anchor="ctr">
                    <a:solidFill>
                      <a:srgbClr val="F7F9FC"/>
                    </a:solidFill>
                  </a:tcPr>
                </a:tc>
                <a:tc>
                  <a:txBody>
                    <a:bodyPr/>
                    <a:lstStyle/>
                    <a:p>
                      <a:r>
                        <a:rPr lang="en-US" sz="1200" dirty="0">
                          <a:solidFill>
                            <a:srgbClr val="172B4D"/>
                          </a:solidFill>
                          <a:latin typeface="Calibri"/>
                        </a:rPr>
                        <a:t>STU</a:t>
                      </a:r>
                    </a:p>
                  </a:txBody>
                  <a:tcPr anchor="ctr">
                    <a:solidFill>
                      <a:srgbClr val="F7F9FC"/>
                    </a:solidFill>
                  </a:tcPr>
                </a:tc>
                <a:tc>
                  <a:txBody>
                    <a:bodyPr/>
                    <a:lstStyle/>
                    <a:p>
                      <a:r>
                        <a:rPr lang="en-US" sz="1200" dirty="0">
                          <a:solidFill>
                            <a:srgbClr val="172B4D"/>
                          </a:solidFill>
                          <a:latin typeface="Calibri"/>
                        </a:rPr>
                        <a:t>SSP/DSS, SE/DSE; AE/DAE, ATS, CE; CSU Lead, CSAM/CSA; Services/Partner</a:t>
                      </a:r>
                    </a:p>
                  </a:txBody>
                  <a:tcPr anchor="ctr">
                    <a:solidFill>
                      <a:srgbClr val="F7F9FC"/>
                    </a:solidFill>
                  </a:tcPr>
                </a:tc>
                <a:tc>
                  <a:txBody>
                    <a:bodyPr/>
                    <a:lstStyle/>
                    <a:p>
                      <a:r>
                        <a:rPr lang="en-US" sz="1200" dirty="0">
                          <a:solidFill>
                            <a:srgbClr val="172B4D"/>
                          </a:solidFill>
                          <a:latin typeface="Calibri"/>
                        </a:rPr>
                        <a:t>STU → CSU/Partner with commitment and plans</a:t>
                      </a:r>
                    </a:p>
                  </a:txBody>
                  <a:tcPr anchor="ctr">
                    <a:solidFill>
                      <a:srgbClr val="F7F9FC"/>
                    </a:solidFill>
                  </a:tcPr>
                </a:tc>
                <a:extLst>
                  <a:ext uri="{0D108BD9-81ED-4DB2-BD59-A6C34878D82A}">
                    <a16:rowId xmlns:a16="http://schemas.microsoft.com/office/drawing/2014/main" val="10003"/>
                  </a:ext>
                </a:extLst>
              </a:tr>
              <a:tr h="400050">
                <a:tc>
                  <a:txBody>
                    <a:bodyPr/>
                    <a:lstStyle/>
                    <a:p>
                      <a:r>
                        <a:rPr lang="en-US" sz="1200" dirty="0">
                          <a:solidFill>
                            <a:srgbClr val="172B4D"/>
                          </a:solidFill>
                          <a:latin typeface="Calibri"/>
                        </a:rPr>
                        <a:t>Realize Value</a:t>
                      </a:r>
                    </a:p>
                  </a:txBody>
                  <a:tcPr anchor="ctr">
                    <a:solidFill>
                      <a:srgbClr val="FFFFFF"/>
                    </a:solidFill>
                  </a:tcPr>
                </a:tc>
                <a:tc>
                  <a:txBody>
                    <a:bodyPr/>
                    <a:lstStyle/>
                    <a:p>
                      <a:r>
                        <a:rPr lang="en-US" sz="1200" dirty="0">
                          <a:solidFill>
                            <a:srgbClr val="172B4D"/>
                          </a:solidFill>
                          <a:latin typeface="Calibri"/>
                        </a:rPr>
                        <a:t>CSU / Partner</a:t>
                      </a:r>
                    </a:p>
                  </a:txBody>
                  <a:tcPr anchor="ctr">
                    <a:solidFill>
                      <a:srgbClr val="FFFFFF"/>
                    </a:solidFill>
                  </a:tcPr>
                </a:tc>
                <a:tc>
                  <a:txBody>
                    <a:bodyPr/>
                    <a:lstStyle/>
                    <a:p>
                      <a:r>
                        <a:rPr lang="en-US" sz="1200" dirty="0">
                          <a:solidFill>
                            <a:srgbClr val="172B4D"/>
                          </a:solidFill>
                          <a:latin typeface="Calibri"/>
                        </a:rPr>
                        <a:t>CSAM, CSA, ISD, CAF/FDE, Services, Partner; AE/ATS oversight; SE for blockers</a:t>
                      </a:r>
                    </a:p>
                  </a:txBody>
                  <a:tcPr anchor="ctr">
                    <a:solidFill>
                      <a:srgbClr val="FFFFFF"/>
                    </a:solidFill>
                  </a:tcPr>
                </a:tc>
                <a:tc>
                  <a:txBody>
                    <a:bodyPr/>
                    <a:lstStyle/>
                    <a:p>
                      <a:r>
                        <a:rPr lang="en-US" sz="1200" dirty="0">
                          <a:solidFill>
                            <a:srgbClr val="172B4D"/>
                          </a:solidFill>
                          <a:latin typeface="Calibri"/>
                        </a:rPr>
                        <a:t>Delivery → success governance with measured value</a:t>
                      </a:r>
                    </a:p>
                  </a:txBody>
                  <a:tcPr anchor="ctr">
                    <a:solidFill>
                      <a:srgbClr val="FFFFFF"/>
                    </a:solidFill>
                  </a:tcPr>
                </a:tc>
                <a:extLst>
                  <a:ext uri="{0D108BD9-81ED-4DB2-BD59-A6C34878D82A}">
                    <a16:rowId xmlns:a16="http://schemas.microsoft.com/office/drawing/2014/main" val="10004"/>
                  </a:ext>
                </a:extLst>
              </a:tr>
              <a:tr h="400050">
                <a:tc>
                  <a:txBody>
                    <a:bodyPr/>
                    <a:lstStyle/>
                    <a:p>
                      <a:r>
                        <a:rPr lang="en-US" sz="1200" dirty="0">
                          <a:solidFill>
                            <a:srgbClr val="172B4D"/>
                          </a:solidFill>
                          <a:latin typeface="Calibri"/>
                        </a:rPr>
                        <a:t>Manage &amp; Optimize</a:t>
                      </a:r>
                    </a:p>
                  </a:txBody>
                  <a:tcPr anchor="ctr">
                    <a:solidFill>
                      <a:srgbClr val="F7F9FC"/>
                    </a:solidFill>
                  </a:tcPr>
                </a:tc>
                <a:tc>
                  <a:txBody>
                    <a:bodyPr/>
                    <a:lstStyle/>
                    <a:p>
                      <a:r>
                        <a:rPr lang="en-US" sz="1200" dirty="0">
                          <a:solidFill>
                            <a:srgbClr val="172B4D"/>
                          </a:solidFill>
                          <a:latin typeface="Calibri"/>
                        </a:rPr>
                        <a:t>CSU / Partner</a:t>
                      </a:r>
                    </a:p>
                  </a:txBody>
                  <a:tcPr anchor="ctr">
                    <a:solidFill>
                      <a:srgbClr val="F7F9FC"/>
                    </a:solidFill>
                  </a:tcPr>
                </a:tc>
                <a:tc>
                  <a:txBody>
                    <a:bodyPr/>
                    <a:lstStyle/>
                    <a:p>
                      <a:r>
                        <a:rPr lang="en-US" sz="1200" dirty="0">
                          <a:solidFill>
                            <a:srgbClr val="172B4D"/>
                          </a:solidFill>
                          <a:latin typeface="Calibri"/>
                        </a:rPr>
                        <a:t>CSAM, CSA, ISD, Partner; AE/ATS; SSP/SE for expansion</a:t>
                      </a:r>
                    </a:p>
                  </a:txBody>
                  <a:tcPr anchor="ctr">
                    <a:solidFill>
                      <a:srgbClr val="F7F9FC"/>
                    </a:solidFill>
                  </a:tcPr>
                </a:tc>
                <a:tc>
                  <a:txBody>
                    <a:bodyPr/>
                    <a:lstStyle/>
                    <a:p>
                      <a:r>
                        <a:rPr lang="en-US" sz="1200" dirty="0">
                          <a:solidFill>
                            <a:srgbClr val="172B4D"/>
                          </a:solidFill>
                          <a:latin typeface="Calibri"/>
                        </a:rPr>
                        <a:t>CSU/Partner → ATU/STU for next workload</a:t>
                      </a:r>
                    </a:p>
                  </a:txBody>
                  <a:tcPr anchor="ctr">
                    <a:solidFill>
                      <a:srgbClr val="F7F9FC"/>
                    </a:solidFill>
                  </a:tcPr>
                </a:tc>
                <a:extLst>
                  <a:ext uri="{0D108BD9-81ED-4DB2-BD59-A6C34878D82A}">
                    <a16:rowId xmlns:a16="http://schemas.microsoft.com/office/drawing/2014/main" val="10005"/>
                  </a:ext>
                </a:extLst>
              </a:tr>
            </a:tbl>
          </a:graphicData>
        </a:graphic>
      </p:graphicFrame>
      <p:sp>
        <p:nvSpPr>
          <p:cNvPr id="5" name="Source Note"/>
          <p:cNvSpPr/>
          <p:nvPr/>
        </p:nvSpPr>
        <p:spPr>
          <a:xfrm>
            <a:off x="457200" y="3714750"/>
            <a:ext cx="11277600" cy="285750"/>
          </a:xfrm>
          <a:prstGeom prst="rect">
            <a:avLst/>
          </a:prstGeom>
          <a:noFill/>
        </p:spPr>
        <p:txBody>
          <a:bodyPr vert="horz" wrap="square" rtlCol="0" anchor="t">
            <a:normAutofit/>
          </a:bodyPr>
          <a:lstStyle/>
          <a:p>
            <a:r>
              <a:rPr lang="en-US" sz="1000" i="1" dirty="0">
                <a:solidFill>
                  <a:srgbClr val="52616B"/>
                </a:solidFill>
                <a:latin typeface="Calibri"/>
              </a:rPr>
              <a:t>Role titles vary by segment; cross-segment view based on FY27 Enterprise and SME&amp;C orchestration guides.</a:t>
            </a:r>
          </a:p>
        </p:txBody>
      </p:sp>
      <p:sp>
        <p:nvSpPr>
          <p:cNvPr id="100" name="Running Footer"/>
          <p:cNvSpPr>
            <a:spLocks noGrp="1"/>
          </p:cNvSpPr>
          <p:nvPr/>
        </p:nvSpPr>
        <p:spPr>
          <a:xfrm>
            <a:off x="457200" y="6492240"/>
            <a:ext cx="10180320" cy="274320"/>
          </a:xfrm>
          <a:prstGeom prst="rect">
            <a:avLst/>
          </a:prstGeom>
          <a:noFill/>
        </p:spPr>
        <p:txBody>
          <a:bodyPr vert="horz" wrap="square" rtlCol="0" anchor="ctr">
            <a:normAutofit/>
          </a:bodyPr>
          <a:lstStyle/>
          <a:p>
            <a:pPr algn="l"/>
            <a:r>
              <a:rPr lang="en-US" sz="1000" dirty="0">
                <a:solidFill>
                  <a:srgbClr val="52616B"/>
                </a:solidFill>
                <a:latin typeface="Calibri"/>
              </a:rPr>
              <a:t>FY27 MCEM · Stage Gates &amp; Roles</a:t>
            </a:r>
          </a:p>
        </p:txBody>
      </p:sp>
      <p:sp>
        <p:nvSpPr>
          <p:cNvPr id="101" name="Running Footer Page Number"/>
          <p:cNvSpPr>
            <a:spLocks noGrp="1"/>
          </p:cNvSpPr>
          <p:nvPr/>
        </p:nvSpPr>
        <p:spPr>
          <a:xfrm>
            <a:off x="10637520" y="6492240"/>
            <a:ext cx="1097280" cy="274320"/>
          </a:xfrm>
          <a:prstGeom prst="rect">
            <a:avLst/>
          </a:prstGeom>
          <a:noFill/>
        </p:spPr>
        <p:txBody>
          <a:bodyPr vert="horz" wrap="square" rtlCol="0" anchor="ctr">
            <a:normAutofit/>
          </a:bodyPr>
          <a:lstStyle/>
          <a:p>
            <a:pPr algn="r"/>
            <a:r>
              <a:rPr lang="en-US" sz="1000" dirty="0">
                <a:solidFill>
                  <a:srgbClr val="52616B"/>
                </a:solidFill>
                <a:latin typeface="Calibri"/>
              </a:rPr>
              <a:t>8</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99" name="Accent Bar"/>
          <p:cNvSpPr>
            <a:spLocks noGrp="1"/>
          </p:cNvSpPr>
          <p:nvPr/>
        </p:nvSpPr>
        <p:spPr>
          <a:xfrm>
            <a:off x="0" y="0"/>
            <a:ext cx="12192000" cy="73152"/>
          </a:xfrm>
          <a:prstGeom prst="rect">
            <a:avLst/>
          </a:prstGeom>
          <a:solidFill>
            <a:srgbClr val="2A446F"/>
          </a:solidFill>
        </p:spPr>
        <p:txBody>
          <a:bodyPr/>
          <a:lstStyle/>
          <a:p>
            <a:endParaRPr/>
          </a:p>
        </p:txBody>
      </p:sp>
      <p:sp>
        <p:nvSpPr>
          <p:cNvPr id="2" name="Background"/>
          <p:cNvSpPr>
            <a:spLocks noGrp="1"/>
          </p:cNvSpPr>
          <p:nvPr/>
        </p:nvSpPr>
        <p:spPr>
          <a:xfrm>
            <a:off x="0" y="0"/>
            <a:ext cx="12192000" cy="6858000"/>
          </a:xfrm>
          <a:prstGeom prst="rect">
            <a:avLst/>
          </a:prstGeom>
          <a:solidFill>
            <a:srgbClr val="2A446F"/>
          </a:solidFill>
        </p:spPr>
        <p:txBody>
          <a:bodyPr/>
          <a:lstStyle/>
          <a:p>
            <a:endParaRPr/>
          </a:p>
        </p:txBody>
      </p:sp>
      <p:sp>
        <p:nvSpPr>
          <p:cNvPr id="3" name="End Title"/>
          <p:cNvSpPr>
            <a:spLocks noGrp="1"/>
          </p:cNvSpPr>
          <p:nvPr>
            <p:ph type="ctrTitle"/>
          </p:nvPr>
        </p:nvSpPr>
        <p:spPr>
          <a:xfrm>
            <a:off x="457200" y="1831086"/>
            <a:ext cx="11277600" cy="1371600"/>
          </a:xfrm>
          <a:prstGeom prst="rect">
            <a:avLst/>
          </a:prstGeom>
          <a:noFill/>
        </p:spPr>
        <p:txBody>
          <a:bodyPr vert="horz" wrap="square" rtlCol="0" anchor="ctr">
            <a:normAutofit/>
          </a:bodyPr>
          <a:lstStyle/>
          <a:p>
            <a:pPr algn="ctr"/>
            <a:r>
              <a:rPr lang="en-US" sz="2800" b="1" dirty="0">
                <a:solidFill>
                  <a:srgbClr val="FFFFFF"/>
                </a:solidFill>
                <a:latin typeface="Trebuchet MS"/>
              </a:rPr>
              <a:t>For the opportunity in review, which exit evidence is missing—and who owns closing the gap?</a:t>
            </a:r>
          </a:p>
        </p:txBody>
      </p:sp>
      <p:sp>
        <p:nvSpPr>
          <p:cNvPr id="4" name="End Subtitle"/>
          <p:cNvSpPr>
            <a:spLocks noGrp="1"/>
          </p:cNvSpPr>
          <p:nvPr>
            <p:ph type="subTitle"/>
          </p:nvPr>
        </p:nvSpPr>
        <p:spPr>
          <a:xfrm>
            <a:off x="457200" y="3431286"/>
            <a:ext cx="11277600" cy="685800"/>
          </a:xfrm>
          <a:prstGeom prst="rect">
            <a:avLst/>
          </a:prstGeom>
          <a:noFill/>
        </p:spPr>
        <p:txBody>
          <a:bodyPr vert="horz" wrap="square" rtlCol="0" anchor="ctr">
            <a:normAutofit/>
          </a:bodyPr>
          <a:lstStyle/>
          <a:p>
            <a:pPr algn="ctr"/>
            <a:r>
              <a:rPr lang="en-US" sz="2000" dirty="0">
                <a:solidFill>
                  <a:srgbClr val="FFFFFF"/>
                </a:solidFill>
                <a:latin typeface="Calibri"/>
              </a:rPr>
              <a:t>MCEM stage progression is a team decision, not a status update.</a:t>
            </a:r>
          </a:p>
        </p:txBody>
      </p:sp>
    </p:spTree>
  </p:cSld>
  <p:clrMapOvr>
    <a:masterClrMapping/>
  </p:clrMapOvr>
</p:sld>
</file>

<file path=ppt/theme/theme1.xml><?xml version="1.0" encoding="utf-8"?>
<a:theme xmlns:a="http://schemas.openxmlformats.org/drawingml/2006/main" name="Office Theme">
  <a:themeElements>
    <a:clrScheme name="Office">
      <a:dk1>
        <a:srgbClr val="172B4D"/>
      </a:dk1>
      <a:lt1>
        <a:srgbClr val="FFFFFF"/>
      </a:lt1>
      <a:dk2>
        <a:srgbClr val="1F3864"/>
      </a:dk2>
      <a:lt2>
        <a:srgbClr val="E2E8F0"/>
      </a:lt2>
      <a:accent1>
        <a:srgbClr val="2A446F"/>
      </a:accent1>
      <a:accent2>
        <a:srgbClr val="0078D4"/>
      </a:accent2>
      <a:accent3>
        <a:srgbClr val="059669"/>
      </a:accent3>
      <a:accent4>
        <a:srgbClr val="D97706"/>
      </a:accent4>
      <a:accent5>
        <a:srgbClr val="DC2626"/>
      </a:accent5>
      <a:accent6>
        <a:srgbClr val="0891B2"/>
      </a:accent6>
      <a:hlink>
        <a:srgbClr val="2A446F"/>
      </a:hlink>
      <a:folHlink>
        <a:srgbClr val="0078D4"/>
      </a:folHlink>
    </a:clrScheme>
    <a:fontScheme name="Office">
      <a:majorFont>
        <a:latin typeface="Trebuchet MS"/>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Office Theme">
  <a:themeElements>
    <a:clrScheme name="Office">
      <a:dk1>
        <a:srgbClr val="172B4D"/>
      </a:dk1>
      <a:lt1>
        <a:srgbClr val="FFFFFF"/>
      </a:lt1>
      <a:dk2>
        <a:srgbClr val="1F3864"/>
      </a:dk2>
      <a:lt2>
        <a:srgbClr val="E2E8F0"/>
      </a:lt2>
      <a:accent1>
        <a:srgbClr val="2A446F"/>
      </a:accent1>
      <a:accent2>
        <a:srgbClr val="0078D4"/>
      </a:accent2>
      <a:accent3>
        <a:srgbClr val="059669"/>
      </a:accent3>
      <a:accent4>
        <a:srgbClr val="D97706"/>
      </a:accent4>
      <a:accent5>
        <a:srgbClr val="DC2626"/>
      </a:accent5>
      <a:accent6>
        <a:srgbClr val="0891B2"/>
      </a:accent6>
      <a:hlink>
        <a:srgbClr val="2A446F"/>
      </a:hlink>
      <a:folHlink>
        <a:srgbClr val="0078D4"/>
      </a:folHlink>
    </a:clrScheme>
    <a:fontScheme name="Office">
      <a:majorFont>
        <a:latin typeface="Trebuchet MS"/>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0</TotalTime>
  <Words>1704</Words>
  <Application>Microsoft Office PowerPoint</Application>
  <PresentationFormat>Widescreen</PresentationFormat>
  <Paragraphs>180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Calibri</vt:lpstr>
      <vt:lpstr>Trebuchet MS</vt:lpstr>
      <vt:lpstr>Office Theme</vt:lpstr>
      <vt:lpstr>MCEM Stage Gates and Role Matrix</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For the opportunity in review, which exit evidence is missing—and who owns closing the gap?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Girish Pillai</dc:creator>
  <cp:lastModifiedBy>Girish Pillai</cp:lastModifiedBy>
  <cp:revision>3</cp:revision>
  <dcterms:created xsi:type="dcterms:W3CDTF">2026-09-05T21:43:03Z</dcterms:created>
  <dcterms:modified xsi:type="dcterms:W3CDTF">2026-09-08T21:27:11Z</dcterms:modified>
</cp:coreProperties>
</file>